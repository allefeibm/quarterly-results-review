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D_81F4B5D2.xml" ContentType="application/vnd.ms-powerpoint.comments+xml"/>
  <Override PartName="/ppt/notesSlides/notesSlide2.xml" ContentType="application/vnd.openxmlformats-officedocument.presentationml.notesSlide+xml"/>
  <Override PartName="/ppt/comments/modernComment_11E_46292E0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2" r:id="rId2"/>
  </p:sldMasterIdLst>
  <p:notesMasterIdLst>
    <p:notesMasterId r:id="rId11"/>
  </p:notesMasterIdLst>
  <p:sldIdLst>
    <p:sldId id="259" r:id="rId3"/>
    <p:sldId id="285" r:id="rId4"/>
    <p:sldId id="286" r:id="rId5"/>
    <p:sldId id="258" r:id="rId6"/>
    <p:sldId id="287" r:id="rId7"/>
    <p:sldId id="288" r:id="rId8"/>
    <p:sldId id="289" r:id="rId9"/>
    <p:sldId id="29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3C5E49A-7778-EEDF-C89F-AF082AEEEB9E}" name="Jen Bergeron" initials="JB" userId="S::Jennifer.Martinson1@ibm.com::9cc11d93-8f6f-4cb3-96dd-5e6f676e99f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8EEC4E-E2F4-4CFC-86DC-984BB0F7ECCE}" v="17" dt="2026-08-18T18:14:10.036"/>
  </p1510:revLst>
</p1510:revInfo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61"/>
    <p:restoredTop sz="94726"/>
  </p:normalViewPr>
  <p:slideViewPr>
    <p:cSldViewPr snapToGrid="0">
      <p:cViewPr varScale="1">
        <p:scale>
          <a:sx n="97" d="100"/>
          <a:sy n="97" d="100"/>
        </p:scale>
        <p:origin x="21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by Cimmarusti" userId="xkIhsXMOA4ObusUnEYODMIGRWih+C01hyROLtaL5uvA=" providerId="None" clId="Web-{F98EEC4E-E2F4-4CFC-86DC-984BB0F7ECCE}"/>
    <pc:docChg chg="addSld modSld">
      <pc:chgData name="Ruby Cimmarusti" userId="xkIhsXMOA4ObusUnEYODMIGRWih+C01hyROLtaL5uvA=" providerId="None" clId="Web-{F98EEC4E-E2F4-4CFC-86DC-984BB0F7ECCE}" dt="2026-08-18T18:14:10.036" v="16" actId="20577"/>
      <pc:docMkLst>
        <pc:docMk/>
      </pc:docMkLst>
      <pc:sldChg chg="modSp add replId">
        <pc:chgData name="Ruby Cimmarusti" userId="xkIhsXMOA4ObusUnEYODMIGRWih+C01hyROLtaL5uvA=" providerId="None" clId="Web-{F98EEC4E-E2F4-4CFC-86DC-984BB0F7ECCE}" dt="2026-08-18T18:13:57.599" v="8" actId="20577"/>
        <pc:sldMkLst>
          <pc:docMk/>
          <pc:sldMk cId="1538860891" sldId="287"/>
        </pc:sldMkLst>
        <pc:spChg chg="mod">
          <ac:chgData name="Ruby Cimmarusti" userId="xkIhsXMOA4ObusUnEYODMIGRWih+C01hyROLtaL5uvA=" providerId="None" clId="Web-{F98EEC4E-E2F4-4CFC-86DC-984BB0F7ECCE}" dt="2026-08-18T18:13:57.599" v="8" actId="20577"/>
          <ac:spMkLst>
            <pc:docMk/>
            <pc:sldMk cId="1538860891" sldId="287"/>
            <ac:spMk id="2" creationId="{D1901CD6-FCB8-BEBA-60FB-A8E802C0C203}"/>
          </ac:spMkLst>
        </pc:spChg>
      </pc:sldChg>
      <pc:sldChg chg="modSp add replId">
        <pc:chgData name="Ruby Cimmarusti" userId="xkIhsXMOA4ObusUnEYODMIGRWih+C01hyROLtaL5uvA=" providerId="None" clId="Web-{F98EEC4E-E2F4-4CFC-86DC-984BB0F7ECCE}" dt="2026-08-18T18:14:01.880" v="11" actId="20577"/>
        <pc:sldMkLst>
          <pc:docMk/>
          <pc:sldMk cId="2074759118" sldId="288"/>
        </pc:sldMkLst>
        <pc:spChg chg="mod">
          <ac:chgData name="Ruby Cimmarusti" userId="xkIhsXMOA4ObusUnEYODMIGRWih+C01hyROLtaL5uvA=" providerId="None" clId="Web-{F98EEC4E-E2F4-4CFC-86DC-984BB0F7ECCE}" dt="2026-08-18T18:14:01.880" v="11" actId="20577"/>
          <ac:spMkLst>
            <pc:docMk/>
            <pc:sldMk cId="2074759118" sldId="288"/>
            <ac:spMk id="2" creationId="{CA3CCA56-4412-9A7F-C687-79AD4DF67A4B}"/>
          </ac:spMkLst>
        </pc:spChg>
      </pc:sldChg>
      <pc:sldChg chg="modSp add replId">
        <pc:chgData name="Ruby Cimmarusti" userId="xkIhsXMOA4ObusUnEYODMIGRWih+C01hyROLtaL5uvA=" providerId="None" clId="Web-{F98EEC4E-E2F4-4CFC-86DC-984BB0F7ECCE}" dt="2026-08-18T18:14:06.099" v="14" actId="20577"/>
        <pc:sldMkLst>
          <pc:docMk/>
          <pc:sldMk cId="1861745973" sldId="289"/>
        </pc:sldMkLst>
        <pc:spChg chg="mod">
          <ac:chgData name="Ruby Cimmarusti" userId="xkIhsXMOA4ObusUnEYODMIGRWih+C01hyROLtaL5uvA=" providerId="None" clId="Web-{F98EEC4E-E2F4-4CFC-86DC-984BB0F7ECCE}" dt="2026-08-18T18:14:06.099" v="14" actId="20577"/>
          <ac:spMkLst>
            <pc:docMk/>
            <pc:sldMk cId="1861745973" sldId="289"/>
            <ac:spMk id="2" creationId="{0E20F5E1-5488-BBAF-DC03-1DE8132AEB77}"/>
          </ac:spMkLst>
        </pc:spChg>
      </pc:sldChg>
      <pc:sldChg chg="modSp add replId">
        <pc:chgData name="Ruby Cimmarusti" userId="xkIhsXMOA4ObusUnEYODMIGRWih+C01hyROLtaL5uvA=" providerId="None" clId="Web-{F98EEC4E-E2F4-4CFC-86DC-984BB0F7ECCE}" dt="2026-08-18T18:14:10.036" v="16" actId="20577"/>
        <pc:sldMkLst>
          <pc:docMk/>
          <pc:sldMk cId="1304436884" sldId="290"/>
        </pc:sldMkLst>
        <pc:spChg chg="mod">
          <ac:chgData name="Ruby Cimmarusti" userId="xkIhsXMOA4ObusUnEYODMIGRWih+C01hyROLtaL5uvA=" providerId="None" clId="Web-{F98EEC4E-E2F4-4CFC-86DC-984BB0F7ECCE}" dt="2026-08-18T18:14:10.036" v="16" actId="20577"/>
          <ac:spMkLst>
            <pc:docMk/>
            <pc:sldMk cId="1304436884" sldId="290"/>
            <ac:spMk id="2" creationId="{EA279FC6-6639-2AE8-1E73-F8F7C0CE1EBF}"/>
          </ac:spMkLst>
        </pc:spChg>
      </pc:sldChg>
    </pc:docChg>
  </pc:docChgLst>
</pc:chgInfo>
</file>

<file path=ppt/comments/modernComment_11D_81F4B5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3706834-27C7-4122-8578-25A5272427DA}" authorId="{53C5E49A-7778-EEDF-C89F-AF082AEEEB9E}" status="resolved" created="2026-08-13T13:39:53.960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180298194" sldId="285"/>
      <ac:graphicFrameMk id="6" creationId="{DD56604F-64DC-E648-B048-3B9A50C702EF}"/>
      <ac:tblMk/>
      <ac:tcMk rowId="4102377399" colId="2278243994"/>
      <ac:txMk cp="0" len="16">
        <ac:context len="46" hash="1837459394"/>
      </ac:txMk>
    </ac:txMkLst>
    <p188:pos x="1251222" y="247461"/>
    <p188:txBody>
      <a:bodyPr/>
      <a:lstStyle/>
      <a:p>
        <a:r>
          <a:rPr lang="en-US"/>
          <a:t>Total # of Named Accounts/ Total # of Attendees</a:t>
        </a:r>
      </a:p>
    </p188:txBody>
  </p188:cm>
  <p188:cm id="{5B896611-DFBF-47B8-A9E2-A6EF73B92874}" authorId="{53C5E49A-7778-EEDF-C89F-AF082AEEEB9E}" status="resolved" created="2026-08-13T13:41:12.438" complete="100000">
    <pc:sldMkLst xmlns:pc="http://schemas.microsoft.com/office/powerpoint/2013/main/command">
      <pc:docMk/>
      <pc:sldMk cId="2180298194" sldId="285"/>
    </pc:sldMkLst>
    <p188:txBody>
      <a:bodyPr/>
      <a:lstStyle/>
      <a:p>
        <a:r>
          <a:rPr lang="en-US"/>
          <a:t>Total # of Horizon Accounts / Total # of Attendees</a:t>
        </a:r>
      </a:p>
    </p188:txBody>
  </p188:cm>
</p188:cmLst>
</file>

<file path=ppt/comments/modernComment_11E_46292E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0CC925-152E-FF4B-8336-8CB7C8A1F04E}" authorId="{53C5E49A-7778-EEDF-C89F-AF082AEEEB9E}" status="resolved" created="2026-08-13T13:39:53.960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73568992" sldId="286"/>
      <ac:graphicFrameMk id="6" creationId="{EF827673-E933-1F59-4B56-A6ACBF9B3F1E}"/>
      <ac:tblMk/>
      <ac:tcMk rowId="4102377399" colId="2278243994"/>
      <ac:txMk cp="0" len="16">
        <ac:context len="46" hash="1837459394"/>
      </ac:txMk>
    </ac:txMkLst>
    <p188:pos x="1251222" y="247461"/>
    <p188:txBody>
      <a:bodyPr/>
      <a:lstStyle/>
      <a:p>
        <a:r>
          <a:rPr lang="en-US"/>
          <a:t>Total # of Named Accounts/ Total # of Attendees</a:t>
        </a:r>
      </a:p>
    </p188:txBody>
  </p188:cm>
  <p188:cm id="{9783A977-1C03-D24F-8D40-E282FCABE599}" authorId="{53C5E49A-7778-EEDF-C89F-AF082AEEEB9E}" status="resolved" created="2026-08-13T13:41:12.438" complete="100000">
    <pc:sldMkLst xmlns:pc="http://schemas.microsoft.com/office/powerpoint/2013/main/command">
      <pc:docMk/>
      <pc:sldMk cId="2180298194" sldId="285"/>
    </pc:sldMkLst>
    <p188:txBody>
      <a:bodyPr/>
      <a:lstStyle/>
      <a:p>
        <a:r>
          <a:rPr lang="en-US"/>
          <a:t>Total # of Horizon Accounts / Total # of Attendees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8FAEDD-00DB-FD4B-A156-49B629A51983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F7523B-E1AF-F340-AC77-3B836988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728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meetings – consider pulling a report to show what percentage of SQOR meetings are driving </a:t>
            </a:r>
          </a:p>
          <a:p>
            <a:r>
              <a:rPr lang="en-US" dirty="0"/>
              <a:t>For proprietary, include pipeline in room vs how much has progressed over time (would need to pull from ISC with opportunity number dashboard)</a:t>
            </a:r>
          </a:p>
          <a:p>
            <a:r>
              <a:rPr lang="en-US" dirty="0"/>
              <a:t>Paste event results slide into POR once updated so Elena has visibility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F7523B-E1AF-F340-AC77-3B836988B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677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Individuals vs Engagements </a:t>
            </a:r>
          </a:p>
          <a:p>
            <a:r>
              <a:rPr lang="en-US" dirty="0"/>
              <a:t>Elena also thinks we should call out engagements (multi-touch)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F7523B-E1AF-F340-AC77-3B836988B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55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63" y="756001"/>
            <a:ext cx="5049180" cy="2672999"/>
          </a:xfrm>
        </p:spPr>
        <p:txBody>
          <a:bodyPr/>
          <a:lstStyle>
            <a:lvl1pPr>
              <a:lnSpc>
                <a:spcPct val="100000"/>
              </a:lnSpc>
              <a:defRPr sz="4200">
                <a:solidFill>
                  <a:schemeClr val="tx2"/>
                </a:solidFill>
              </a:defRPr>
            </a:lvl1pPr>
          </a:lstStyle>
          <a:p>
            <a:r>
              <a:rPr lang="en-US"/>
              <a:t>[Event Name]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1"/>
            <a:ext cx="769063" cy="28620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0847" cy="629012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477F19C-C511-44F4-B2FD-5F8AD1B5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339" y="5049986"/>
            <a:ext cx="5049180" cy="850900"/>
          </a:xfrm>
        </p:spPr>
        <p:txBody>
          <a:bodyPr/>
          <a:lstStyle/>
          <a:p>
            <a:pPr lvl="0"/>
            <a:r>
              <a:rPr lang="en-US"/>
              <a:t>[Event Date], [Event Location]</a:t>
            </a:r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F2771-DA7B-DE56-E56E-032150E797C9}"/>
              </a:ext>
            </a:extLst>
          </p:cNvPr>
          <p:cNvSpPr txBox="1"/>
          <p:nvPr userDrawn="1"/>
        </p:nvSpPr>
        <p:spPr>
          <a:xfrm>
            <a:off x="287339" y="282919"/>
            <a:ext cx="4231399" cy="315664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rIns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PLAN OF RECORD</a:t>
            </a:r>
          </a:p>
        </p:txBody>
      </p:sp>
    </p:spTree>
    <p:extLst>
      <p:ext uri="{BB962C8B-B14F-4D97-AF65-F5344CB8AC3E}">
        <p14:creationId xmlns:p14="http://schemas.microsoft.com/office/powerpoint/2010/main" val="1244068192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92025"/>
            <a:ext cx="2470717" cy="2105025"/>
          </a:xfrm>
        </p:spPr>
        <p:txBody>
          <a:bodyPr/>
          <a:lstStyle>
            <a:lvl1pPr>
              <a:lnSpc>
                <a:spcPct val="100000"/>
              </a:lnSpc>
              <a:defRPr sz="3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508" y="287337"/>
            <a:ext cx="2476177" cy="5808659"/>
          </a:xfrm>
        </p:spPr>
        <p:txBody>
          <a:bodyPr/>
          <a:lstStyle>
            <a:lvl1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7337"/>
            <a:ext cx="2470623" cy="5810251"/>
          </a:xfrm>
        </p:spPr>
        <p:txBody>
          <a:bodyPr/>
          <a:lstStyle>
            <a:lvl1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6004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92024"/>
            <a:ext cx="5517527" cy="1331912"/>
          </a:xfrm>
        </p:spPr>
        <p:txBody>
          <a:bodyPr rIns="457200"/>
          <a:lstStyle>
            <a:lvl1pPr>
              <a:lnSpc>
                <a:spcPct val="100000"/>
              </a:lnSpc>
              <a:defRPr sz="3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F412B5-726F-373A-86F7-2FBA60F1401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E2B1415-A9D9-645B-4DF0-7D16976DF7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16886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7"/>
            <a:ext cx="3711980" cy="953295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63" y="1523999"/>
            <a:ext cx="5049180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9169" y="1524000"/>
            <a:ext cx="5047593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1A72C-9D4B-8178-79CE-382DDE87CD2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0934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6"/>
            <a:ext cx="2474591" cy="762795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63" y="1520825"/>
            <a:ext cx="2477765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5750"/>
            <a:ext cx="8567416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7D5110-D587-CC11-18F6-FEB7AA2D785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14490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A93EEE1-93B2-869E-2EBF-1BA053C3FE62}"/>
              </a:ext>
            </a:extLst>
          </p:cNvPr>
          <p:cNvSpPr/>
          <p:nvPr userDrawn="1"/>
        </p:nvSpPr>
        <p:spPr bwMode="auto">
          <a:xfrm flipH="1">
            <a:off x="6237755" y="0"/>
            <a:ext cx="5958313" cy="6858000"/>
          </a:xfrm>
          <a:prstGeom prst="rect">
            <a:avLst/>
          </a:prstGeom>
          <a:solidFill>
            <a:srgbClr val="E5F6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sz="800" b="1" noProof="1">
              <a:solidFill>
                <a:sysClr val="windowText" lastClr="000000"/>
              </a:solidFill>
            </a:endParaRP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7082612" y="1614820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7082612" y="3140408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082612" y="4662820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501340" y="1614820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01340" y="3140408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01340" y="4662820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1F0832-FD30-62A1-8616-C0B122AF7A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63" y="261036"/>
            <a:ext cx="5666283" cy="951076"/>
          </a:xfrm>
        </p:spPr>
        <p:txBody>
          <a:bodyPr/>
          <a:lstStyle>
            <a:lvl1pPr>
              <a:lnSpc>
                <a:spcPct val="110000"/>
              </a:lnSpc>
              <a:defRPr sz="18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Session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274755E-C9DB-C960-00C2-5EA59B760A1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87311" y="1614820"/>
            <a:ext cx="5666283" cy="30797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Date/Hour/Location</a:t>
            </a:r>
            <a:endParaRPr lang="en-BR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629583B-916F-A388-4803-4FC30555C7B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87338" y="2150237"/>
            <a:ext cx="5666893" cy="3750833"/>
          </a:xfrm>
        </p:spPr>
        <p:txBody>
          <a:bodyPr/>
          <a:lstStyle>
            <a:lvl1pPr>
              <a:defRPr sz="1400">
                <a:latin typeface="+mn-lt"/>
              </a:defRPr>
            </a:lvl1pPr>
          </a:lstStyle>
          <a:p>
            <a:pPr lvl="0"/>
            <a:r>
              <a:rPr lang="en-US"/>
              <a:t>Add abstract here</a:t>
            </a:r>
            <a:endParaRPr lang="en-BR"/>
          </a:p>
        </p:txBody>
      </p:sp>
      <p:pic>
        <p:nvPicPr>
          <p:cNvPr id="23" name="Picture 22" descr="Bee, Blue 60 pictogram">
            <a:extLst>
              <a:ext uri="{FF2B5EF4-FFF2-40B4-BE49-F238E27FC236}">
                <a16:creationId xmlns:a16="http://schemas.microsoft.com/office/drawing/2014/main" id="{0DF64090-E778-1D4A-D9DD-AFE05CCF57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46799" y="60569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41074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6"/>
            <a:ext cx="2474591" cy="1234376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B0435695-E156-66C6-5CE4-B0F751F125D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61000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, no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BB52633-E778-8150-08A2-AB6BC4C71B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1" y="0"/>
            <a:ext cx="12192000" cy="79325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BR" sz="1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3638835" cy="27118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41239901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a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D9031C-4980-31E5-9CDF-17C17AA47124}"/>
              </a:ext>
            </a:extLst>
          </p:cNvPr>
          <p:cNvCxnSpPr/>
          <p:nvPr userDrawn="1"/>
        </p:nvCxnSpPr>
        <p:spPr bwMode="auto">
          <a:xfrm>
            <a:off x="3048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9FE82F-1A42-B323-2CB4-84C4CD2C0010}"/>
              </a:ext>
            </a:extLst>
          </p:cNvPr>
          <p:cNvCxnSpPr/>
          <p:nvPr userDrawn="1"/>
        </p:nvCxnSpPr>
        <p:spPr bwMode="auto">
          <a:xfrm>
            <a:off x="6096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BD3522-8FC4-2C8B-EFE6-98BC774D059A}"/>
              </a:ext>
            </a:extLst>
          </p:cNvPr>
          <p:cNvCxnSpPr/>
          <p:nvPr userDrawn="1"/>
        </p:nvCxnSpPr>
        <p:spPr bwMode="auto">
          <a:xfrm>
            <a:off x="9144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B033B8-D425-A80F-EF94-A95EF5B3E506}"/>
              </a:ext>
            </a:extLst>
          </p:cNvPr>
          <p:cNvCxnSpPr/>
          <p:nvPr userDrawn="1"/>
        </p:nvCxnSpPr>
        <p:spPr bwMode="auto">
          <a:xfrm>
            <a:off x="2569" y="3428996"/>
            <a:ext cx="12193268" cy="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10627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ot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>
            <a:extLst>
              <a:ext uri="{FF2B5EF4-FFF2-40B4-BE49-F238E27FC236}">
                <a16:creationId xmlns:a16="http://schemas.microsoft.com/office/drawing/2014/main" id="{B0435695-E156-66C6-5CE4-B0F751F125D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D0467-1706-4712-8B22-6C59639CF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4637" y="1081294"/>
            <a:ext cx="3901364" cy="2160000"/>
          </a:xfrm>
          <a:ln>
            <a:noFill/>
          </a:ln>
        </p:spPr>
        <p:txBody>
          <a:bodyPr/>
          <a:lstStyle>
            <a:lvl1pPr algn="ctr">
              <a:defRPr sz="1000" b="1"/>
            </a:lvl1pPr>
          </a:lstStyle>
          <a:p>
            <a:r>
              <a:rPr lang="en-BR"/>
              <a:t>Insert Booth Mockup/Photos here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F7B36E81-2B95-5127-B302-D7F6A140B96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3300" y="1081294"/>
            <a:ext cx="3901363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3F56D3B0-F36B-EDCB-1AA4-98351AC49C9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14637" y="3502206"/>
            <a:ext cx="3901364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5DEE4B7-28C8-1990-D207-D668DB4635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03300" y="3502206"/>
            <a:ext cx="3901363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951FE-0B1E-6126-4C33-FDB79C079C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1" y="0"/>
            <a:ext cx="12192000" cy="79325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BR" sz="1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2C9036C-E5DD-67D3-944A-8B67E7328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3638835" cy="27118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18136174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5" y="3084231"/>
            <a:ext cx="1727991" cy="689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7922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63" y="756001"/>
            <a:ext cx="5049180" cy="2672999"/>
          </a:xfrm>
        </p:spPr>
        <p:txBody>
          <a:bodyPr/>
          <a:lstStyle>
            <a:lvl1pPr>
              <a:lnSpc>
                <a:spcPct val="100000"/>
              </a:lnSpc>
              <a:defRPr sz="4200">
                <a:solidFill>
                  <a:schemeClr val="tx2"/>
                </a:solidFill>
              </a:defRPr>
            </a:lvl1pPr>
          </a:lstStyle>
          <a:p>
            <a:r>
              <a:rPr lang="en-US"/>
              <a:t>[Event Name]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1"/>
            <a:ext cx="769063" cy="28620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0847" cy="629012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477F19C-C511-44F4-B2FD-5F8AD1B5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339" y="5049986"/>
            <a:ext cx="5049180" cy="850900"/>
          </a:xfrm>
        </p:spPr>
        <p:txBody>
          <a:bodyPr/>
          <a:lstStyle/>
          <a:p>
            <a:pPr lvl="0"/>
            <a:r>
              <a:rPr lang="en-US"/>
              <a:t>[Event Date], [Event Location]</a:t>
            </a:r>
            <a:endParaRPr lang="en-B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F2771-DA7B-DE56-E56E-032150E797C9}"/>
              </a:ext>
            </a:extLst>
          </p:cNvPr>
          <p:cNvSpPr txBox="1"/>
          <p:nvPr userDrawn="1"/>
        </p:nvSpPr>
        <p:spPr>
          <a:xfrm>
            <a:off x="287339" y="282919"/>
            <a:ext cx="4231399" cy="315664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rIns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PLAN OF RECORD</a:t>
            </a:r>
          </a:p>
        </p:txBody>
      </p:sp>
    </p:spTree>
    <p:extLst>
      <p:ext uri="{BB962C8B-B14F-4D97-AF65-F5344CB8AC3E}">
        <p14:creationId xmlns:p14="http://schemas.microsoft.com/office/powerpoint/2010/main" val="331294205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92025"/>
            <a:ext cx="2470717" cy="2105025"/>
          </a:xfrm>
        </p:spPr>
        <p:txBody>
          <a:bodyPr/>
          <a:lstStyle>
            <a:lvl1pPr>
              <a:lnSpc>
                <a:spcPct val="100000"/>
              </a:lnSpc>
              <a:defRPr sz="3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508" y="287337"/>
            <a:ext cx="2476177" cy="5808659"/>
          </a:xfrm>
        </p:spPr>
        <p:txBody>
          <a:bodyPr/>
          <a:lstStyle>
            <a:lvl1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7337"/>
            <a:ext cx="2470623" cy="5810251"/>
          </a:xfrm>
        </p:spPr>
        <p:txBody>
          <a:bodyPr/>
          <a:lstStyle>
            <a:lvl1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629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3625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92024"/>
            <a:ext cx="5517527" cy="1331912"/>
          </a:xfrm>
        </p:spPr>
        <p:txBody>
          <a:bodyPr rIns="457200"/>
          <a:lstStyle>
            <a:lvl1pPr>
              <a:lnSpc>
                <a:spcPct val="100000"/>
              </a:lnSpc>
              <a:defRPr sz="3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F412B5-726F-373A-86F7-2FBA60F1401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E2B1415-A9D9-645B-4DF0-7D16976DF7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808217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7"/>
            <a:ext cx="3711980" cy="953295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63" y="1523999"/>
            <a:ext cx="5049180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9169" y="1524000"/>
            <a:ext cx="5047593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1A72C-9D4B-8178-79CE-382DDE87CD2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11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6"/>
            <a:ext cx="2474591" cy="762795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63" y="1520825"/>
            <a:ext cx="2477765" cy="457676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5750"/>
            <a:ext cx="8567416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7D5110-D587-CC11-18F6-FEB7AA2D785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097143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A93EEE1-93B2-869E-2EBF-1BA053C3FE62}"/>
              </a:ext>
            </a:extLst>
          </p:cNvPr>
          <p:cNvSpPr/>
          <p:nvPr userDrawn="1"/>
        </p:nvSpPr>
        <p:spPr bwMode="auto">
          <a:xfrm flipH="1">
            <a:off x="6237755" y="0"/>
            <a:ext cx="5958313" cy="6858000"/>
          </a:xfrm>
          <a:prstGeom prst="rect">
            <a:avLst/>
          </a:prstGeom>
          <a:solidFill>
            <a:srgbClr val="E5F6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sz="800" b="1" noProof="1">
              <a:solidFill>
                <a:sysClr val="windowText" lastClr="000000"/>
              </a:solidFill>
            </a:endParaRP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7082612" y="1614820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7082612" y="3140408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082612" y="4662820"/>
            <a:ext cx="1229708" cy="1238251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Speaker Headshot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501340" y="1614820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01340" y="3140408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01340" y="4662820"/>
            <a:ext cx="2853953" cy="123825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1pPr>
            <a:lvl2pPr marL="128013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2pPr>
            <a:lvl3pPr marL="256026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3pPr>
            <a:lvl4pPr marL="384038" indent="-128013">
              <a:lnSpc>
                <a:spcPct val="110000"/>
              </a:lnSpc>
              <a:spcBef>
                <a:spcPts val="0"/>
              </a:spcBef>
              <a:defRPr sz="11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Speaker Name</a:t>
            </a:r>
          </a:p>
          <a:p>
            <a:pPr lvl="0"/>
            <a:r>
              <a:rPr lang="en-US"/>
              <a:t>Speaker Title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1F0832-FD30-62A1-8616-C0B122AF7A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63" y="261036"/>
            <a:ext cx="5666283" cy="951076"/>
          </a:xfrm>
        </p:spPr>
        <p:txBody>
          <a:bodyPr/>
          <a:lstStyle>
            <a:lvl1pPr>
              <a:lnSpc>
                <a:spcPct val="110000"/>
              </a:lnSpc>
              <a:defRPr sz="18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Session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274755E-C9DB-C960-00C2-5EA59B760A1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87311" y="1614820"/>
            <a:ext cx="5666283" cy="30797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Date/Hour/Location</a:t>
            </a:r>
            <a:endParaRPr lang="en-BR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629583B-916F-A388-4803-4FC30555C7B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87338" y="2150237"/>
            <a:ext cx="5666893" cy="3750833"/>
          </a:xfrm>
        </p:spPr>
        <p:txBody>
          <a:bodyPr/>
          <a:lstStyle>
            <a:lvl1pPr>
              <a:defRPr sz="1400">
                <a:latin typeface="+mn-lt"/>
              </a:defRPr>
            </a:lvl1pPr>
          </a:lstStyle>
          <a:p>
            <a:pPr lvl="0"/>
            <a:r>
              <a:rPr lang="en-US"/>
              <a:t>Add abstract here</a:t>
            </a:r>
            <a:endParaRPr lang="en-BR"/>
          </a:p>
        </p:txBody>
      </p:sp>
      <p:pic>
        <p:nvPicPr>
          <p:cNvPr id="23" name="Picture 22" descr="Bee, Blue 60 pictogram">
            <a:extLst>
              <a:ext uri="{FF2B5EF4-FFF2-40B4-BE49-F238E27FC236}">
                <a16:creationId xmlns:a16="http://schemas.microsoft.com/office/drawing/2014/main" id="{0DF64090-E778-1D4A-D9DD-AFE05CCF57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46799" y="60569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00284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88036"/>
            <a:ext cx="2474591" cy="1234376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87963" y="6408001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B0435695-E156-66C6-5CE4-B0F751F125D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1401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, no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BB52633-E778-8150-08A2-AB6BC4C71B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1" y="0"/>
            <a:ext cx="12192000" cy="79325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BR" sz="1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3638835" cy="27118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20693052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a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D9031C-4980-31E5-9CDF-17C17AA47124}"/>
              </a:ext>
            </a:extLst>
          </p:cNvPr>
          <p:cNvCxnSpPr/>
          <p:nvPr userDrawn="1"/>
        </p:nvCxnSpPr>
        <p:spPr bwMode="auto">
          <a:xfrm>
            <a:off x="3048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9FE82F-1A42-B323-2CB4-84C4CD2C0010}"/>
              </a:ext>
            </a:extLst>
          </p:cNvPr>
          <p:cNvCxnSpPr/>
          <p:nvPr userDrawn="1"/>
        </p:nvCxnSpPr>
        <p:spPr bwMode="auto">
          <a:xfrm>
            <a:off x="6096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BD3522-8FC4-2C8B-EFE6-98BC774D059A}"/>
              </a:ext>
            </a:extLst>
          </p:cNvPr>
          <p:cNvCxnSpPr/>
          <p:nvPr userDrawn="1"/>
        </p:nvCxnSpPr>
        <p:spPr bwMode="auto">
          <a:xfrm>
            <a:off x="9144000" y="330"/>
            <a:ext cx="0" cy="685734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B033B8-D425-A80F-EF94-A95EF5B3E506}"/>
              </a:ext>
            </a:extLst>
          </p:cNvPr>
          <p:cNvCxnSpPr/>
          <p:nvPr userDrawn="1"/>
        </p:nvCxnSpPr>
        <p:spPr bwMode="auto">
          <a:xfrm>
            <a:off x="2569" y="3428996"/>
            <a:ext cx="12193268" cy="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831389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ot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>
            <a:extLst>
              <a:ext uri="{FF2B5EF4-FFF2-40B4-BE49-F238E27FC236}">
                <a16:creationId xmlns:a16="http://schemas.microsoft.com/office/drawing/2014/main" id="{B0435695-E156-66C6-5CE4-B0F751F125D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7577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D0467-1706-4712-8B22-6C59639CF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4637" y="1081294"/>
            <a:ext cx="3901364" cy="2160000"/>
          </a:xfrm>
          <a:ln>
            <a:noFill/>
          </a:ln>
        </p:spPr>
        <p:txBody>
          <a:bodyPr/>
          <a:lstStyle>
            <a:lvl1pPr algn="ctr">
              <a:defRPr sz="1000" b="1"/>
            </a:lvl1pPr>
          </a:lstStyle>
          <a:p>
            <a:r>
              <a:rPr lang="en-BR"/>
              <a:t>Insert Booth Mockup/Photos here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F7B36E81-2B95-5127-B302-D7F6A140B96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3300" y="1081294"/>
            <a:ext cx="3901363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3F56D3B0-F36B-EDCB-1AA4-98351AC49C9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14637" y="3502206"/>
            <a:ext cx="3901364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5DEE4B7-28C8-1990-D207-D668DB4635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03300" y="3502206"/>
            <a:ext cx="3901363" cy="2160000"/>
          </a:xfrm>
          <a:ln>
            <a:noFill/>
          </a:ln>
        </p:spPr>
        <p:txBody>
          <a:bodyPr/>
          <a:lstStyle>
            <a:lvl1pPr marL="0" marR="0" indent="0" algn="ctr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 b="1"/>
            </a:lvl1pPr>
          </a:lstStyle>
          <a:p>
            <a:pPr marL="0" marR="0" lvl="0" indent="0" algn="l" defTabSz="121917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/>
              <a:t>Insert Booth Mockup/Photos here</a:t>
            </a:r>
          </a:p>
          <a:p>
            <a:endParaRPr lang="en-B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951FE-0B1E-6126-4C33-FDB79C079C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1" y="0"/>
            <a:ext cx="12192000" cy="79325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BR" sz="1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2C9036C-E5DD-67D3-944A-8B67E7328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3638835" cy="27118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4314533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5" y="3084231"/>
            <a:ext cx="1727991" cy="689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4817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7910" y="6475858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234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433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7963" y="6411643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21215774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med"/>
  <p:hf hdr="0" dt="0"/>
  <p:txStyles>
    <p:titleStyle>
      <a:lvl1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79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56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84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5121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88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76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764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486" marR="0" indent="-228594" algn="l" defTabSz="1219170" rtl="0" eaLnBrk="1" latinLnBrk="0" hangingPunct="1">
        <a:lnSpc>
          <a:spcPct val="110000"/>
        </a:lnSpc>
        <a:spcBef>
          <a:spcPts val="1451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50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78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406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347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92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82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474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966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457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949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441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931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181">
          <p15:clr>
            <a:srgbClr val="EE5396"/>
          </p15:clr>
        </p15:guide>
        <p15:guide id="4" pos="1920">
          <p15:clr>
            <a:srgbClr val="0F62FE"/>
          </p15:clr>
        </p15:guide>
        <p15:guide id="5" pos="957">
          <p15:clr>
            <a:srgbClr val="EE5396"/>
          </p15:clr>
        </p15:guide>
        <p15:guide id="6" pos="2877">
          <p15:clr>
            <a:srgbClr val="EE5396"/>
          </p15:clr>
        </p15:guide>
        <p15:guide id="7" pos="3659">
          <p15:clr>
            <a:srgbClr val="EE5396"/>
          </p15:clr>
        </p15:guide>
        <p15:guide id="8" pos="4020">
          <p15:clr>
            <a:srgbClr val="EE5396"/>
          </p15:clr>
        </p15:guide>
        <p15:guide id="9" pos="2100">
          <p15:clr>
            <a:srgbClr val="EE5396"/>
          </p15:clr>
        </p15:guide>
        <p15:guide id="10" pos="1740">
          <p15:clr>
            <a:srgbClr val="EE5396"/>
          </p15:clr>
        </p15:guide>
        <p15:guide id="11" pos="4796">
          <p15:clr>
            <a:srgbClr val="EE5396"/>
          </p15:clr>
        </p15:guide>
        <p15:guide id="13" pos="5579">
          <p15:clr>
            <a:srgbClr val="EE5396"/>
          </p15:clr>
        </p15:guide>
        <p15:guide id="14" pos="5939">
          <p15:clr>
            <a:srgbClr val="EE5396"/>
          </p15:clr>
        </p15:guide>
        <p15:guide id="15" pos="6719">
          <p15:clr>
            <a:srgbClr val="EE5396"/>
          </p15:clr>
        </p15:guide>
        <p15:guide id="16" pos="7496">
          <p15:clr>
            <a:srgbClr val="EE5396"/>
          </p15:clr>
        </p15:guide>
        <p15:guide id="19" orient="horz" pos="1920">
          <p15:clr>
            <a:srgbClr val="EE5396"/>
          </p15:clr>
        </p15:guide>
        <p15:guide id="20" orient="horz" pos="479">
          <p15:clr>
            <a:srgbClr val="EE5396"/>
          </p15:clr>
        </p15:guide>
        <p15:guide id="25" orient="horz" pos="3841">
          <p15:clr>
            <a:srgbClr val="EE5396"/>
          </p15:clr>
        </p15:guide>
        <p15:guide id="26" pos="3840">
          <p15:clr>
            <a:srgbClr val="0F62FE"/>
          </p15:clr>
        </p15:guide>
        <p15:guide id="27" pos="5759">
          <p15:clr>
            <a:srgbClr val="0F62FE"/>
          </p15:clr>
        </p15:guide>
        <p15:guide id="30" orient="horz" pos="959">
          <p15:clr>
            <a:srgbClr val="EE5396"/>
          </p15:clr>
        </p15:guide>
        <p15:guide id="32" orient="horz" pos="3360">
          <p15:clr>
            <a:srgbClr val="EE5396"/>
          </p15:clr>
        </p15:guide>
        <p15:guide id="33" orient="horz" pos="1440">
          <p15:clr>
            <a:srgbClr val="EE5396"/>
          </p15:clr>
        </p15:guide>
        <p15:guide id="34" orient="horz" pos="2400">
          <p15:clr>
            <a:srgbClr val="EE5396"/>
          </p15:clr>
        </p15:guide>
        <p15:guide id="35" orient="horz" pos="2879">
          <p15:clr>
            <a:srgbClr val="EE5396"/>
          </p15:clr>
        </p15:guide>
        <p15:guide id="36" orient="horz" pos="4143">
          <p15:clr>
            <a:srgbClr val="9FCC3B"/>
          </p15:clr>
        </p15:guide>
        <p15:guide id="37" orient="horz" pos="180">
          <p15:clr>
            <a:srgbClr val="9FCC3B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7910" y="6475858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234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433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7963" y="6411643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768121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med"/>
  <p:hf hdr="0" dt="0"/>
  <p:txStyles>
    <p:titleStyle>
      <a:lvl1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79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56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840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5121" algn="l" defTabSz="121917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88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76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764" marR="0" indent="-164588" algn="l" defTabSz="121917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486" marR="0" indent="-228594" algn="l" defTabSz="1219170" rtl="0" eaLnBrk="1" latinLnBrk="0" hangingPunct="1">
        <a:lnSpc>
          <a:spcPct val="110000"/>
        </a:lnSpc>
        <a:spcBef>
          <a:spcPts val="1451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50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78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4068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347" marR="0" indent="-194499" algn="l" defTabSz="1219170" rtl="0" eaLnBrk="1" latinLnBrk="0" hangingPunct="1">
        <a:lnSpc>
          <a:spcPct val="100000"/>
        </a:lnSpc>
        <a:spcBef>
          <a:spcPts val="1451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92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82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474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966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457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949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441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931" algn="r" defTabSz="91462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181">
          <p15:clr>
            <a:srgbClr val="EE5396"/>
          </p15:clr>
        </p15:guide>
        <p15:guide id="4" pos="1920">
          <p15:clr>
            <a:srgbClr val="0F62FE"/>
          </p15:clr>
        </p15:guide>
        <p15:guide id="5" pos="957">
          <p15:clr>
            <a:srgbClr val="EE5396"/>
          </p15:clr>
        </p15:guide>
        <p15:guide id="6" pos="2877">
          <p15:clr>
            <a:srgbClr val="EE5396"/>
          </p15:clr>
        </p15:guide>
        <p15:guide id="7" pos="3659">
          <p15:clr>
            <a:srgbClr val="EE5396"/>
          </p15:clr>
        </p15:guide>
        <p15:guide id="8" pos="4020">
          <p15:clr>
            <a:srgbClr val="EE5396"/>
          </p15:clr>
        </p15:guide>
        <p15:guide id="9" pos="2100">
          <p15:clr>
            <a:srgbClr val="EE5396"/>
          </p15:clr>
        </p15:guide>
        <p15:guide id="10" pos="1740">
          <p15:clr>
            <a:srgbClr val="EE5396"/>
          </p15:clr>
        </p15:guide>
        <p15:guide id="11" pos="4796">
          <p15:clr>
            <a:srgbClr val="EE5396"/>
          </p15:clr>
        </p15:guide>
        <p15:guide id="13" pos="5579">
          <p15:clr>
            <a:srgbClr val="EE5396"/>
          </p15:clr>
        </p15:guide>
        <p15:guide id="14" pos="5939">
          <p15:clr>
            <a:srgbClr val="EE5396"/>
          </p15:clr>
        </p15:guide>
        <p15:guide id="15" pos="6719">
          <p15:clr>
            <a:srgbClr val="EE5396"/>
          </p15:clr>
        </p15:guide>
        <p15:guide id="16" pos="7496">
          <p15:clr>
            <a:srgbClr val="EE5396"/>
          </p15:clr>
        </p15:guide>
        <p15:guide id="19" orient="horz" pos="1920">
          <p15:clr>
            <a:srgbClr val="EE5396"/>
          </p15:clr>
        </p15:guide>
        <p15:guide id="20" orient="horz" pos="479">
          <p15:clr>
            <a:srgbClr val="EE5396"/>
          </p15:clr>
        </p15:guide>
        <p15:guide id="25" orient="horz" pos="3841">
          <p15:clr>
            <a:srgbClr val="EE5396"/>
          </p15:clr>
        </p15:guide>
        <p15:guide id="26" pos="3840">
          <p15:clr>
            <a:srgbClr val="0F62FE"/>
          </p15:clr>
        </p15:guide>
        <p15:guide id="27" pos="5759">
          <p15:clr>
            <a:srgbClr val="0F62FE"/>
          </p15:clr>
        </p15:guide>
        <p15:guide id="30" orient="horz" pos="959">
          <p15:clr>
            <a:srgbClr val="EE5396"/>
          </p15:clr>
        </p15:guide>
        <p15:guide id="32" orient="horz" pos="3360">
          <p15:clr>
            <a:srgbClr val="EE5396"/>
          </p15:clr>
        </p15:guide>
        <p15:guide id="33" orient="horz" pos="1440">
          <p15:clr>
            <a:srgbClr val="EE5396"/>
          </p15:clr>
        </p15:guide>
        <p15:guide id="34" orient="horz" pos="2400">
          <p15:clr>
            <a:srgbClr val="EE5396"/>
          </p15:clr>
        </p15:guide>
        <p15:guide id="35" orient="horz" pos="2879">
          <p15:clr>
            <a:srgbClr val="EE5396"/>
          </p15:clr>
        </p15:guide>
        <p15:guide id="36" orient="horz" pos="4143">
          <p15:clr>
            <a:srgbClr val="9FCC3B"/>
          </p15:clr>
        </p15:guide>
        <p15:guide id="37" orient="horz" pos="18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81F4B5D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Relationship Id="rId4" Type="http://schemas.openxmlformats.org/officeDocument/2006/relationships/hyperlink" Target="https://ibm.ent.box.com/folder/367761251020?s=h6y1cfrjixr0bqks6vz2o64k3k0imy3z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46292E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hyperlink" Target="https://ibm.box.com/s/vzythf93vh8lfml83l5kw2lvp9anue2i" TargetMode="External"/><Relationship Id="rId4" Type="http://schemas.openxmlformats.org/officeDocument/2006/relationships/hyperlink" Target="https://ibm.ent.box.com/folder/367761251020?s=h6y1cfrjixr0bqks6vz2o64k3k0imy3z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bm.box.com/s/p5tlc50ht8m0lqf9la27soy9iqxt17um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3793EF-58B1-9AA6-F5E4-DF6C3C0AE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C798D-3DAD-6AD8-8566-2B32ABF5E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922" y="1151394"/>
            <a:ext cx="6457611" cy="2849105"/>
          </a:xfrm>
        </p:spPr>
        <p:txBody>
          <a:bodyPr/>
          <a:lstStyle/>
          <a:p>
            <a:r>
              <a:rPr lang="en-US" sz="4000" noProof="1">
                <a:solidFill>
                  <a:schemeClr val="accent1"/>
                </a:solidFill>
              </a:rPr>
              <a:t>Quarterly Event Results Review with Jen</a:t>
            </a:r>
            <a:br>
              <a:rPr lang="en-US" sz="4000" noProof="1"/>
            </a:br>
            <a:br>
              <a:rPr lang="en-US" sz="4000" noProof="1"/>
            </a:br>
            <a:r>
              <a:rPr lang="en-US" sz="2400" noProof="1"/>
              <a:t>[Industry/FSM/Pub/Fed/Horizon/Consulting/Strategic Partners]</a:t>
            </a:r>
            <a:endParaRPr lang="en-US" sz="4000" noProof="1"/>
          </a:p>
        </p:txBody>
      </p:sp>
    </p:spTree>
    <p:extLst>
      <p:ext uri="{BB962C8B-B14F-4D97-AF65-F5344CB8AC3E}">
        <p14:creationId xmlns:p14="http://schemas.microsoft.com/office/powerpoint/2010/main" val="301486202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75CF6-DA47-5931-652F-E0789A7A1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17B763-9887-BBEA-2593-95059A8E1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4528966" cy="394270"/>
          </a:xfrm>
        </p:spPr>
        <p:txBody>
          <a:bodyPr/>
          <a:lstStyle/>
          <a:p>
            <a:r>
              <a:rPr lang="en-US" sz="2000" noProof="1"/>
              <a:t>[Event Name], [Brief ID], [Event Date]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FA72D2-73BF-0163-23E6-B92DE7F346FD}"/>
              </a:ext>
            </a:extLst>
          </p:cNvPr>
          <p:cNvSpPr/>
          <p:nvPr/>
        </p:nvSpPr>
        <p:spPr bwMode="auto">
          <a:xfrm>
            <a:off x="4041735" y="1199213"/>
            <a:ext cx="8013100" cy="3343795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4B1D97-8A45-A1A2-2DC2-ACAC5EDBF269}"/>
              </a:ext>
            </a:extLst>
          </p:cNvPr>
          <p:cNvSpPr/>
          <p:nvPr/>
        </p:nvSpPr>
        <p:spPr bwMode="auto">
          <a:xfrm>
            <a:off x="3926798" y="5411449"/>
            <a:ext cx="8128036" cy="65347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A2510-7AD0-8F33-1C51-6834ADC07D05}"/>
              </a:ext>
            </a:extLst>
          </p:cNvPr>
          <p:cNvSpPr txBox="1"/>
          <p:nvPr/>
        </p:nvSpPr>
        <p:spPr>
          <a:xfrm>
            <a:off x="6219984" y="2648882"/>
            <a:ext cx="3957403" cy="329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[Paste screenshot of EPM dashboard]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5B0FEE-9D3A-A276-0021-BC8D9D751314}"/>
              </a:ext>
            </a:extLst>
          </p:cNvPr>
          <p:cNvSpPr txBox="1"/>
          <p:nvPr/>
        </p:nvSpPr>
        <p:spPr>
          <a:xfrm>
            <a:off x="6565691" y="5599847"/>
            <a:ext cx="3018019" cy="276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[Insert table of 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  <a:hlinkClick r:id="rId4"/>
              </a:rPr>
              <a:t>KPI projects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]</a:t>
            </a: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293BBB0B-5C33-F1E1-3E23-24A088F589F6}"/>
              </a:ext>
            </a:extLst>
          </p:cNvPr>
          <p:cNvSpPr txBox="1">
            <a:spLocks/>
          </p:cNvSpPr>
          <p:nvPr/>
        </p:nvSpPr>
        <p:spPr>
          <a:xfrm>
            <a:off x="7123336" y="4731406"/>
            <a:ext cx="1912177" cy="2306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1600" i="1" kern="0" noProof="1"/>
              <a:t>[</a:t>
            </a:r>
            <a:r>
              <a:rPr lang="en-US" sz="1600" b="1" i="1" kern="0" noProof="1">
                <a:highlight>
                  <a:srgbClr val="FFFF00"/>
                </a:highlight>
              </a:rPr>
              <a:t>Date of EPM pull</a:t>
            </a:r>
            <a:r>
              <a:rPr lang="en-US" sz="1600" i="1" kern="0" noProof="1"/>
              <a:t>]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C1AC210-71C9-0BE7-185C-F2DA774908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718326"/>
              </p:ext>
            </p:extLst>
          </p:nvPr>
        </p:nvGraphicFramePr>
        <p:xfrm>
          <a:off x="287961" y="4639417"/>
          <a:ext cx="3419565" cy="1876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9565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520643"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Event Highlights / Future Recommendations</a:t>
                      </a:r>
                    </a:p>
                    <a:p>
                      <a:endParaRPr lang="en-US" sz="105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887021"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1" dirty="0">
                          <a:solidFill>
                            <a:srgbClr val="161616"/>
                          </a:solidFill>
                        </a:rPr>
                        <a:t># of meetings onsite / how did they perform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1" dirty="0">
                          <a:solidFill>
                            <a:srgbClr val="161616"/>
                          </a:solidFill>
                        </a:rPr>
                        <a:t>Any large deals made/progressed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1" dirty="0">
                          <a:solidFill>
                            <a:srgbClr val="161616"/>
                          </a:solidFill>
                        </a:rPr>
                        <a:t>Cool activation or creative idea implemented 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1" dirty="0">
                          <a:solidFill>
                            <a:srgbClr val="161616"/>
                          </a:solidFill>
                        </a:rPr>
                        <a:t>If we didn’t meet projections, why not?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endParaRPr lang="en-US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  <a:tr h="46922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DA1E28"/>
                          </a:solidFill>
                        </a:rPr>
                        <a:t>[Keep, Change, or Remove From Plan]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414998"/>
                  </a:ext>
                </a:extLst>
              </a:tr>
            </a:tbl>
          </a:graphicData>
        </a:graphic>
      </p:graphicFrame>
      <p:sp>
        <p:nvSpPr>
          <p:cNvPr id="17" name="Title 2">
            <a:extLst>
              <a:ext uri="{FF2B5EF4-FFF2-40B4-BE49-F238E27FC236}">
                <a16:creationId xmlns:a16="http://schemas.microsoft.com/office/drawing/2014/main" id="{8B45EA2D-75BF-4FF5-ED8F-30C04ED45125}"/>
              </a:ext>
            </a:extLst>
          </p:cNvPr>
          <p:cNvSpPr txBox="1">
            <a:spLocks/>
          </p:cNvSpPr>
          <p:nvPr/>
        </p:nvSpPr>
        <p:spPr>
          <a:xfrm>
            <a:off x="8553165" y="261037"/>
            <a:ext cx="3638835" cy="271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ctr"/>
            <a:r>
              <a:rPr lang="en-US" sz="2000" kern="0" noProof="1"/>
              <a:t>[Link to POR]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D56604F-64DC-E648-B048-3B9A50C70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99828"/>
              </p:ext>
            </p:extLst>
          </p:nvPr>
        </p:nvGraphicFramePr>
        <p:xfrm>
          <a:off x="258182" y="3382929"/>
          <a:ext cx="1434366" cy="734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364076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Named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Named/Total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X%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AE5F688-7F5B-BDF2-51B5-DE896CE2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094480"/>
              </p:ext>
            </p:extLst>
          </p:nvPr>
        </p:nvGraphicFramePr>
        <p:xfrm>
          <a:off x="2243381" y="3370227"/>
          <a:ext cx="1434366" cy="728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220609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Horizon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Horizon/Total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X%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B38A6EF-6463-F544-0369-192E05290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898648"/>
              </p:ext>
            </p:extLst>
          </p:nvPr>
        </p:nvGraphicFramePr>
        <p:xfrm>
          <a:off x="120387" y="1199213"/>
          <a:ext cx="3584055" cy="78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415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78467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3342156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2BF9327-96CC-1403-0CC9-DF6238FD8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717085"/>
              </p:ext>
            </p:extLst>
          </p:nvPr>
        </p:nvGraphicFramePr>
        <p:xfrm>
          <a:off x="150163" y="2176192"/>
          <a:ext cx="3554279" cy="94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572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61534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223128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SQOR by end of QX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SQOR as of </a:t>
                      </a:r>
                      <a:endParaRPr lang="en-US" sz="800" dirty="0">
                        <a:solidFill>
                          <a:srgbClr val="DA1E2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 </a:t>
                      </a:r>
                    </a:p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(+/-)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0298194"/>
      </p:ext>
    </p:extLst>
  </p:cSld>
  <p:clrMapOvr>
    <a:masterClrMapping/>
  </p:clrMapOvr>
  <p:transition spd="med"/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208EF-A5E0-9ADE-4EE2-0D4D8C33E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5C081D-F2AC-6026-3C42-65F0164E3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2" y="261037"/>
            <a:ext cx="6589915" cy="394270"/>
          </a:xfrm>
        </p:spPr>
        <p:txBody>
          <a:bodyPr/>
          <a:lstStyle/>
          <a:p>
            <a:r>
              <a:rPr lang="en-US" sz="2000" noProof="1"/>
              <a:t>United Supplier Event, LKTXXIMB, March 11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7BFD8F-A0E4-3C29-A97A-9C92EB6358AC}"/>
              </a:ext>
            </a:extLst>
          </p:cNvPr>
          <p:cNvSpPr/>
          <p:nvPr/>
        </p:nvSpPr>
        <p:spPr bwMode="auto">
          <a:xfrm>
            <a:off x="4041735" y="1199213"/>
            <a:ext cx="8013100" cy="3343795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58C828-AF31-715E-E8E6-A68B0E18751A}"/>
              </a:ext>
            </a:extLst>
          </p:cNvPr>
          <p:cNvSpPr txBox="1"/>
          <p:nvPr/>
        </p:nvSpPr>
        <p:spPr>
          <a:xfrm>
            <a:off x="6219984" y="2648882"/>
            <a:ext cx="3957403" cy="329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[Paste screenshot of EPM dashboard]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E28ECF-15A8-956F-28F7-1A9A9B0B10CC}"/>
              </a:ext>
            </a:extLst>
          </p:cNvPr>
          <p:cNvSpPr txBox="1"/>
          <p:nvPr/>
        </p:nvSpPr>
        <p:spPr>
          <a:xfrm>
            <a:off x="6565691" y="5599847"/>
            <a:ext cx="3018019" cy="276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[Insert table of 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  <a:hlinkClick r:id="rId4"/>
              </a:rPr>
              <a:t>KPI projects</a:t>
            </a: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]</a:t>
            </a: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F5CC6479-945B-EC86-F5AB-97FACE877290}"/>
              </a:ext>
            </a:extLst>
          </p:cNvPr>
          <p:cNvSpPr txBox="1">
            <a:spLocks/>
          </p:cNvSpPr>
          <p:nvPr/>
        </p:nvSpPr>
        <p:spPr>
          <a:xfrm>
            <a:off x="7123336" y="4731406"/>
            <a:ext cx="1912177" cy="2306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1600" i="1" kern="0" noProof="1">
                <a:highlight>
                  <a:srgbClr val="FFFF00"/>
                </a:highlight>
              </a:rPr>
              <a:t>Pulled 8.13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BA50BB2-CADF-19A9-113F-D809C4EBF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524800"/>
              </p:ext>
            </p:extLst>
          </p:nvPr>
        </p:nvGraphicFramePr>
        <p:xfrm>
          <a:off x="287961" y="4639417"/>
          <a:ext cx="3419565" cy="1876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9565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520643"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Event Highlights / Future Recommendations</a:t>
                      </a:r>
                    </a:p>
                    <a:p>
                      <a:endParaRPr lang="en-US" sz="105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887021"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0" dirty="0">
                          <a:solidFill>
                            <a:srgbClr val="161616"/>
                          </a:solidFill>
                        </a:rPr>
                        <a:t>Simple presence – tabletop with monitor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0" dirty="0">
                          <a:solidFill>
                            <a:srgbClr val="161616"/>
                          </a:solidFill>
                        </a:rPr>
                        <a:t>Important accounts/contacts in the room – event specifically for CIO organization of United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000" i="0" dirty="0">
                          <a:solidFill>
                            <a:srgbClr val="161616"/>
                          </a:solidFill>
                        </a:rPr>
                        <a:t>Important to have a presence to maintain relationship 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endParaRPr lang="en-US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  <a:tr h="46922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DA1E28"/>
                          </a:solidFill>
                        </a:rPr>
                        <a:t>Keep in Plan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414998"/>
                  </a:ext>
                </a:extLst>
              </a:tr>
            </a:tbl>
          </a:graphicData>
        </a:graphic>
      </p:graphicFrame>
      <p:sp>
        <p:nvSpPr>
          <p:cNvPr id="17" name="Title 2">
            <a:extLst>
              <a:ext uri="{FF2B5EF4-FFF2-40B4-BE49-F238E27FC236}">
                <a16:creationId xmlns:a16="http://schemas.microsoft.com/office/drawing/2014/main" id="{06288444-EAE6-903A-5C02-F1933EC0E8A1}"/>
              </a:ext>
            </a:extLst>
          </p:cNvPr>
          <p:cNvSpPr txBox="1">
            <a:spLocks/>
          </p:cNvSpPr>
          <p:nvPr/>
        </p:nvSpPr>
        <p:spPr>
          <a:xfrm>
            <a:off x="8553165" y="261037"/>
            <a:ext cx="3638835" cy="271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ctr"/>
            <a:r>
              <a:rPr lang="en-US" sz="2000" kern="0" noProof="1">
                <a:hlinkClick r:id="rId5"/>
              </a:rPr>
              <a:t>Link to POR</a:t>
            </a:r>
            <a:endParaRPr lang="en-US" sz="2000" kern="0" noProof="1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827673-E933-1F59-4B56-A6ACBF9B3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576597"/>
              </p:ext>
            </p:extLst>
          </p:nvPr>
        </p:nvGraphicFramePr>
        <p:xfrm>
          <a:off x="258182" y="3382929"/>
          <a:ext cx="1434366" cy="734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364076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Named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Named/Total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95.5%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8A7AEE9-DCFC-68A5-16DA-CE55EE670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866032"/>
              </p:ext>
            </p:extLst>
          </p:nvPr>
        </p:nvGraphicFramePr>
        <p:xfrm>
          <a:off x="2243381" y="3370227"/>
          <a:ext cx="1434366" cy="728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220609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Horizon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Horizon/Total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23DDF43-0F96-B106-23DF-B5217D888D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786"/>
              </p:ext>
            </p:extLst>
          </p:nvPr>
        </p:nvGraphicFramePr>
        <p:xfrm>
          <a:off x="120387" y="1199213"/>
          <a:ext cx="3584055" cy="78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415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78467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3342156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+15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7CED886-A3ED-49BE-3BA7-AEE22FAD7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647662"/>
              </p:ext>
            </p:extLst>
          </p:nvPr>
        </p:nvGraphicFramePr>
        <p:xfrm>
          <a:off x="150163" y="2176192"/>
          <a:ext cx="3554279" cy="110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572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61534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223128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SQOR by end of Q2</a:t>
                      </a:r>
                    </a:p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(CQ+NQ)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SQOR as of 8/13 </a:t>
                      </a:r>
                      <a:endParaRPr lang="en-US" sz="800" dirty="0">
                        <a:solidFill>
                          <a:srgbClr val="DA1E2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 </a:t>
                      </a:r>
                    </a:p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(+/-)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$46,800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$2,900,000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+$2,853,200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8E3899E4-FFE5-4D18-3B9A-37D2009518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6797" y="1084086"/>
            <a:ext cx="8274947" cy="3647320"/>
          </a:xfrm>
          <a:prstGeom prst="rect">
            <a:avLst/>
          </a:prstGeom>
        </p:spPr>
      </p:pic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F5453D7-9181-1571-3DD9-1613545F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750776"/>
              </p:ext>
            </p:extLst>
          </p:nvPr>
        </p:nvGraphicFramePr>
        <p:xfrm>
          <a:off x="3926797" y="5184303"/>
          <a:ext cx="8128037" cy="80837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909454">
                  <a:extLst>
                    <a:ext uri="{9D8B030D-6E8A-4147-A177-3AD203B41FA5}">
                      <a16:colId xmlns:a16="http://schemas.microsoft.com/office/drawing/2014/main" val="4080002343"/>
                    </a:ext>
                  </a:extLst>
                </a:gridCol>
                <a:gridCol w="747387">
                  <a:extLst>
                    <a:ext uri="{9D8B030D-6E8A-4147-A177-3AD203B41FA5}">
                      <a16:colId xmlns:a16="http://schemas.microsoft.com/office/drawing/2014/main" val="2350570175"/>
                    </a:ext>
                  </a:extLst>
                </a:gridCol>
                <a:gridCol w="945083">
                  <a:extLst>
                    <a:ext uri="{9D8B030D-6E8A-4147-A177-3AD203B41FA5}">
                      <a16:colId xmlns:a16="http://schemas.microsoft.com/office/drawing/2014/main" val="3994214295"/>
                    </a:ext>
                  </a:extLst>
                </a:gridCol>
                <a:gridCol w="945083">
                  <a:extLst>
                    <a:ext uri="{9D8B030D-6E8A-4147-A177-3AD203B41FA5}">
                      <a16:colId xmlns:a16="http://schemas.microsoft.com/office/drawing/2014/main" val="4067302682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178613616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664154838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3672166106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2083593"/>
                    </a:ext>
                  </a:extLst>
                </a:gridCol>
                <a:gridCol w="777926">
                  <a:extLst>
                    <a:ext uri="{9D8B030D-6E8A-4147-A177-3AD203B41FA5}">
                      <a16:colId xmlns:a16="http://schemas.microsoft.com/office/drawing/2014/main" val="2546250535"/>
                    </a:ext>
                  </a:extLst>
                </a:gridCol>
              </a:tblGrid>
              <a:tr h="3269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KPI Projections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31472143"/>
                  </a:ext>
                </a:extLst>
              </a:tr>
              <a:tr h="271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Event name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Brief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UT 15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UT 17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CQ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NQ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NQ+1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NQ+2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Total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009609558"/>
                  </a:ext>
                </a:extLst>
              </a:tr>
              <a:tr h="2097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United Supplier Event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0" marR="0" indent="0" algn="l" defTabSz="91462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LKTXXIMB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Data Platform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AI Productivity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 dirty="0">
                          <a:solidFill>
                            <a:schemeClr val="tx1"/>
                          </a:solidFill>
                          <a:effectLst/>
                        </a:rPr>
                        <a:t>$19,890 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 dirty="0">
                          <a:solidFill>
                            <a:schemeClr val="tx1"/>
                          </a:solidFill>
                          <a:effectLst/>
                        </a:rPr>
                        <a:t>$26,910 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 dirty="0">
                          <a:solidFill>
                            <a:schemeClr val="tx1"/>
                          </a:solidFill>
                          <a:effectLst/>
                        </a:rPr>
                        <a:t>$29,250 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 dirty="0">
                          <a:solidFill>
                            <a:schemeClr val="tx1"/>
                          </a:solidFill>
                          <a:effectLst/>
                        </a:rPr>
                        <a:t>$40,950 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0" marR="0" indent="0" algn="r" defTabSz="91462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$117,000 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997228005"/>
                  </a:ext>
                </a:extLst>
              </a:tr>
            </a:tbl>
          </a:graphicData>
        </a:graphic>
      </p:graphicFrame>
      <p:sp>
        <p:nvSpPr>
          <p:cNvPr id="21" name="Title 2">
            <a:extLst>
              <a:ext uri="{FF2B5EF4-FFF2-40B4-BE49-F238E27FC236}">
                <a16:creationId xmlns:a16="http://schemas.microsoft.com/office/drawing/2014/main" id="{D9604D1B-C142-5054-AA0A-68BFD84B89F6}"/>
              </a:ext>
            </a:extLst>
          </p:cNvPr>
          <p:cNvSpPr txBox="1">
            <a:spLocks/>
          </p:cNvSpPr>
          <p:nvPr/>
        </p:nvSpPr>
        <p:spPr>
          <a:xfrm>
            <a:off x="5820941" y="82709"/>
            <a:ext cx="2253759" cy="627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4000" kern="0" noProof="1">
                <a:solidFill>
                  <a:srgbClr val="FF0000"/>
                </a:solidFill>
                <a:highlight>
                  <a:srgbClr val="000000"/>
                </a:highlight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73568992"/>
      </p:ext>
    </p:extLst>
  </p:cSld>
  <p:clrMapOvr>
    <a:masterClrMapping/>
  </p:clrMapOvr>
  <p:transition spd="med"/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BE704-E582-17EB-4291-BF32E53FC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350697-3368-A65F-A061-DA857B13D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261037"/>
            <a:ext cx="4528966" cy="284846"/>
          </a:xfrm>
        </p:spPr>
        <p:txBody>
          <a:bodyPr/>
          <a:lstStyle/>
          <a:p>
            <a:r>
              <a:rPr lang="en-US" sz="2000" noProof="1"/>
              <a:t>SAE WCX 2026, CLXLAQMB, April 14-16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5788B-7BF0-5237-1AC7-3B3C6AB756EB}"/>
              </a:ext>
            </a:extLst>
          </p:cNvPr>
          <p:cNvSpPr txBox="1"/>
          <p:nvPr/>
        </p:nvSpPr>
        <p:spPr>
          <a:xfrm>
            <a:off x="4117298" y="2960557"/>
            <a:ext cx="3957403" cy="329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algn="l"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[Paste screenshot of EPM dashboard]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DEE213-6AD3-B7D6-41E6-2524B2FA4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958" y="1366293"/>
            <a:ext cx="8042877" cy="318852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3BA038-BADF-18EF-C0B6-30B1AAB182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195634"/>
              </p:ext>
            </p:extLst>
          </p:nvPr>
        </p:nvGraphicFramePr>
        <p:xfrm>
          <a:off x="3969377" y="5164972"/>
          <a:ext cx="8128037" cy="65347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909454">
                  <a:extLst>
                    <a:ext uri="{9D8B030D-6E8A-4147-A177-3AD203B41FA5}">
                      <a16:colId xmlns:a16="http://schemas.microsoft.com/office/drawing/2014/main" val="4080002343"/>
                    </a:ext>
                  </a:extLst>
                </a:gridCol>
                <a:gridCol w="747387">
                  <a:extLst>
                    <a:ext uri="{9D8B030D-6E8A-4147-A177-3AD203B41FA5}">
                      <a16:colId xmlns:a16="http://schemas.microsoft.com/office/drawing/2014/main" val="2350570175"/>
                    </a:ext>
                  </a:extLst>
                </a:gridCol>
                <a:gridCol w="945083">
                  <a:extLst>
                    <a:ext uri="{9D8B030D-6E8A-4147-A177-3AD203B41FA5}">
                      <a16:colId xmlns:a16="http://schemas.microsoft.com/office/drawing/2014/main" val="3994214295"/>
                    </a:ext>
                  </a:extLst>
                </a:gridCol>
                <a:gridCol w="945083">
                  <a:extLst>
                    <a:ext uri="{9D8B030D-6E8A-4147-A177-3AD203B41FA5}">
                      <a16:colId xmlns:a16="http://schemas.microsoft.com/office/drawing/2014/main" val="4067302682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178613616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664154838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3672166106"/>
                    </a:ext>
                  </a:extLst>
                </a:gridCol>
                <a:gridCol w="700776">
                  <a:extLst>
                    <a:ext uri="{9D8B030D-6E8A-4147-A177-3AD203B41FA5}">
                      <a16:colId xmlns:a16="http://schemas.microsoft.com/office/drawing/2014/main" val="2083593"/>
                    </a:ext>
                  </a:extLst>
                </a:gridCol>
                <a:gridCol w="777926">
                  <a:extLst>
                    <a:ext uri="{9D8B030D-6E8A-4147-A177-3AD203B41FA5}">
                      <a16:colId xmlns:a16="http://schemas.microsoft.com/office/drawing/2014/main" val="2546250535"/>
                    </a:ext>
                  </a:extLst>
                </a:gridCol>
              </a:tblGrid>
              <a:tr h="2613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KPI Projections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31472143"/>
                  </a:ext>
                </a:extLst>
              </a:tr>
              <a:tr h="1960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Event name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Brief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UT 15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UT 17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CQ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NQ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NQ+1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NQ+2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Total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009609558"/>
                  </a:ext>
                </a:extLst>
              </a:tr>
              <a:tr h="1960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SAE WCX 2026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CLXLAQMB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Data Platform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AI Productivity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>
                          <a:solidFill>
                            <a:schemeClr val="tx1"/>
                          </a:solidFill>
                          <a:effectLst/>
                        </a:rPr>
                        <a:t>$75,796 </a:t>
                      </a:r>
                      <a:endParaRPr lang="en-US" sz="1050" b="0" i="0" u="none" strike="noStrike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>
                          <a:solidFill>
                            <a:schemeClr val="tx1"/>
                          </a:solidFill>
                          <a:effectLst/>
                        </a:rPr>
                        <a:t>$102,547 </a:t>
                      </a:r>
                      <a:endParaRPr lang="en-US" sz="1050" b="0" i="0" u="none" strike="noStrike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>
                          <a:solidFill>
                            <a:schemeClr val="tx1"/>
                          </a:solidFill>
                          <a:effectLst/>
                        </a:rPr>
                        <a:t>$111,465 </a:t>
                      </a:r>
                      <a:endParaRPr lang="en-US" sz="1050" b="0" i="0" u="none" strike="noStrike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u="none" strike="noStrike">
                          <a:solidFill>
                            <a:schemeClr val="tx1"/>
                          </a:solidFill>
                          <a:effectLst/>
                        </a:rPr>
                        <a:t>$156,050 </a:t>
                      </a:r>
                      <a:endParaRPr lang="en-US" sz="1050" b="0" i="0" u="none" strike="noStrike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</a:rPr>
                        <a:t>$445,858 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997228005"/>
                  </a:ext>
                </a:extLst>
              </a:tr>
            </a:tbl>
          </a:graphicData>
        </a:graphic>
      </p:graphicFrame>
      <p:sp>
        <p:nvSpPr>
          <p:cNvPr id="10" name="Title 2">
            <a:extLst>
              <a:ext uri="{FF2B5EF4-FFF2-40B4-BE49-F238E27FC236}">
                <a16:creationId xmlns:a16="http://schemas.microsoft.com/office/drawing/2014/main" id="{829C8328-260B-0BCB-6F86-EDE7E7453654}"/>
              </a:ext>
            </a:extLst>
          </p:cNvPr>
          <p:cNvSpPr txBox="1">
            <a:spLocks/>
          </p:cNvSpPr>
          <p:nvPr/>
        </p:nvSpPr>
        <p:spPr>
          <a:xfrm>
            <a:off x="5820941" y="96371"/>
            <a:ext cx="2253759" cy="627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4000" kern="0" noProof="1">
                <a:solidFill>
                  <a:srgbClr val="FF0000"/>
                </a:solidFill>
                <a:highlight>
                  <a:srgbClr val="000000"/>
                </a:highlight>
              </a:rPr>
              <a:t>EXAMPLE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2AA890-A6C3-F57E-7C41-64BFFE709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787883"/>
              </p:ext>
            </p:extLst>
          </p:nvPr>
        </p:nvGraphicFramePr>
        <p:xfrm>
          <a:off x="258185" y="1404315"/>
          <a:ext cx="3584055" cy="78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415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78467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3342156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Individuals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+15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sp>
        <p:nvSpPr>
          <p:cNvPr id="12" name="Title 2">
            <a:extLst>
              <a:ext uri="{FF2B5EF4-FFF2-40B4-BE49-F238E27FC236}">
                <a16:creationId xmlns:a16="http://schemas.microsoft.com/office/drawing/2014/main" id="{3F6E0CCD-6040-C05C-C231-52E0E451F5F4}"/>
              </a:ext>
            </a:extLst>
          </p:cNvPr>
          <p:cNvSpPr txBox="1">
            <a:spLocks/>
          </p:cNvSpPr>
          <p:nvPr/>
        </p:nvSpPr>
        <p:spPr>
          <a:xfrm>
            <a:off x="7293817" y="4639417"/>
            <a:ext cx="1561767" cy="271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1600" b="1" i="1" u="sng" kern="0" noProof="1">
                <a:highlight>
                  <a:srgbClr val="FFFF00"/>
                </a:highlight>
              </a:rPr>
              <a:t>Pulled 7/19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20D3E5E-00FC-0609-A5EE-2FD3BB034D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029587"/>
              </p:ext>
            </p:extLst>
          </p:nvPr>
        </p:nvGraphicFramePr>
        <p:xfrm>
          <a:off x="287961" y="2381294"/>
          <a:ext cx="3554279" cy="94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572">
                  <a:extLst>
                    <a:ext uri="{9D8B030D-6E8A-4147-A177-3AD203B41FA5}">
                      <a16:colId xmlns:a16="http://schemas.microsoft.com/office/drawing/2014/main" val="1191294870"/>
                    </a:ext>
                  </a:extLst>
                </a:gridCol>
                <a:gridCol w="1261534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  <a:gridCol w="1192173">
                  <a:extLst>
                    <a:ext uri="{9D8B030D-6E8A-4147-A177-3AD203B41FA5}">
                      <a16:colId xmlns:a16="http://schemas.microsoft.com/office/drawing/2014/main" val="223128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Expected SQOR by end of 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Actual SQOR as of 7/19</a:t>
                      </a:r>
                    </a:p>
                    <a:p>
                      <a:endParaRPr lang="en-US" sz="105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Delta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$75,796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$500,000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+$424,204</a:t>
                      </a: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8695D21-5425-8904-C96C-CB8CD598E6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412957"/>
              </p:ext>
            </p:extLst>
          </p:nvPr>
        </p:nvGraphicFramePr>
        <p:xfrm>
          <a:off x="287961" y="4639417"/>
          <a:ext cx="3554279" cy="1876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4279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520643">
                <a:tc>
                  <a:txBody>
                    <a:bodyPr/>
                    <a:lstStyle/>
                    <a:p>
                      <a:pPr marL="0" marR="0" lvl="0" indent="0" algn="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Event Highlights / Future Recommendations</a:t>
                      </a:r>
                    </a:p>
                    <a:p>
                      <a:endParaRPr lang="en-US" sz="105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887021"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  <a:latin typeface="+mn-lt"/>
                        </a:rPr>
                        <a:t>Show did not make it clear how engineer-heavy the audience was. Connected only with engineers and very few decision-makers</a:t>
                      </a:r>
                      <a:r>
                        <a:rPr lang="en-US" sz="800" dirty="0">
                          <a:latin typeface="+mn-lt"/>
                        </a:rPr>
                        <a:t>. 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+mn-lt"/>
                        </a:rPr>
                        <a:t>Results must be from pre-existing discussions, booth staff expressed they had no valuable conversations onsite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800" dirty="0">
                          <a:solidFill>
                            <a:srgbClr val="161616"/>
                          </a:solidFill>
                          <a:latin typeface="+mn-lt"/>
                        </a:rPr>
                        <a:t>Had floor stands for IBV reports, worked very well for this audience</a:t>
                      </a:r>
                      <a:endParaRPr lang="en-US" dirty="0">
                        <a:solidFill>
                          <a:srgbClr val="161616"/>
                        </a:solidFill>
                      </a:endParaRP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  <a:tr h="46922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DA1E28"/>
                          </a:solidFill>
                        </a:rPr>
                        <a:t>Remove from Plan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414998"/>
                  </a:ext>
                </a:extLst>
              </a:tr>
            </a:tbl>
          </a:graphicData>
        </a:graphic>
      </p:graphicFrame>
      <p:sp>
        <p:nvSpPr>
          <p:cNvPr id="17" name="Title 2">
            <a:extLst>
              <a:ext uri="{FF2B5EF4-FFF2-40B4-BE49-F238E27FC236}">
                <a16:creationId xmlns:a16="http://schemas.microsoft.com/office/drawing/2014/main" id="{BE10BBDA-8133-37B2-2699-7A4EEB1831D4}"/>
              </a:ext>
            </a:extLst>
          </p:cNvPr>
          <p:cNvSpPr txBox="1">
            <a:spLocks/>
          </p:cNvSpPr>
          <p:nvPr/>
        </p:nvSpPr>
        <p:spPr>
          <a:xfrm>
            <a:off x="8535714" y="274699"/>
            <a:ext cx="3638835" cy="271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marL="0" marR="0" indent="0" algn="l" defTabSz="121917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79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56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840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5121" algn="l" defTabSz="121917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ctr"/>
            <a:r>
              <a:rPr lang="en-US" sz="2000" kern="0" noProof="1">
                <a:hlinkClick r:id="rId3"/>
              </a:rPr>
              <a:t>Link to POR</a:t>
            </a:r>
            <a:endParaRPr lang="en-US" sz="2000" kern="0" noProof="1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27C59FA-51A2-F658-6F4F-88FFCB47E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60176"/>
              </p:ext>
            </p:extLst>
          </p:nvPr>
        </p:nvGraphicFramePr>
        <p:xfrm>
          <a:off x="287961" y="3493417"/>
          <a:ext cx="1434366" cy="734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364076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Named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Named/Total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45%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F954587-4ACA-894D-A14D-1247C72E3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673364"/>
              </p:ext>
            </p:extLst>
          </p:nvPr>
        </p:nvGraphicFramePr>
        <p:xfrm>
          <a:off x="2407874" y="3493417"/>
          <a:ext cx="1434366" cy="728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66">
                  <a:extLst>
                    <a:ext uri="{9D8B030D-6E8A-4147-A177-3AD203B41FA5}">
                      <a16:colId xmlns:a16="http://schemas.microsoft.com/office/drawing/2014/main" val="2278243994"/>
                    </a:ext>
                  </a:extLst>
                </a:gridCol>
              </a:tblGrid>
              <a:tr h="220609">
                <a:tc>
                  <a:txBody>
                    <a:bodyPr/>
                    <a:lstStyle/>
                    <a:p>
                      <a:pPr marL="0" marR="0" lvl="0" indent="0" algn="ctr" defTabSz="91462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</a:rPr>
                        <a:t>% Horizon Accounts</a:t>
                      </a:r>
                    </a:p>
                    <a:p>
                      <a:pPr algn="ctr"/>
                      <a:r>
                        <a:rPr lang="en-US" sz="700" b="0" dirty="0">
                          <a:solidFill>
                            <a:schemeClr val="bg1"/>
                          </a:solidFill>
                        </a:rPr>
                        <a:t>(# of Horizon/Total Attendees)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37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61616"/>
                          </a:solidFill>
                        </a:rPr>
                        <a:t>8%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56778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88BF932-B986-F938-1D73-5B5BA73CDDB5}"/>
              </a:ext>
            </a:extLst>
          </p:cNvPr>
          <p:cNvSpPr txBox="1"/>
          <p:nvPr/>
        </p:nvSpPr>
        <p:spPr>
          <a:xfrm>
            <a:off x="11201400" y="40821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3031471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F5079A-E137-15DD-363D-580A8E80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01CD6-FCB8-BEBA-60FB-A8E802C0C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922" y="1151394"/>
            <a:ext cx="6457611" cy="2849105"/>
          </a:xfrm>
        </p:spPr>
        <p:txBody>
          <a:bodyPr lIns="0" tIns="0" rIns="457200" bIns="0" anchor="t"/>
          <a:lstStyle/>
          <a:p>
            <a:r>
              <a:rPr lang="en-US" sz="4000" noProof="1">
                <a:solidFill>
                  <a:schemeClr val="accent1"/>
                </a:solidFill>
              </a:rPr>
              <a:t>Q1 Events</a:t>
            </a:r>
            <a:br>
              <a:rPr lang="en-US" sz="4000" noProof="1"/>
            </a:br>
            <a:br>
              <a:rPr lang="en-US" sz="4000" noProof="1"/>
            </a:br>
            <a:endParaRPr lang="en-US" sz="2400" noProof="1"/>
          </a:p>
        </p:txBody>
      </p:sp>
    </p:spTree>
    <p:extLst>
      <p:ext uri="{BB962C8B-B14F-4D97-AF65-F5344CB8AC3E}">
        <p14:creationId xmlns:p14="http://schemas.microsoft.com/office/powerpoint/2010/main" val="153886089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A5C502-1505-FFD6-8B4F-1F60B0C9C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CCA56-4412-9A7F-C687-79AD4DF67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922" y="1151394"/>
            <a:ext cx="6457611" cy="2849105"/>
          </a:xfrm>
        </p:spPr>
        <p:txBody>
          <a:bodyPr lIns="0" tIns="0" rIns="457200" bIns="0" anchor="t"/>
          <a:lstStyle/>
          <a:p>
            <a:r>
              <a:rPr lang="en-US" sz="4000" noProof="1">
                <a:solidFill>
                  <a:schemeClr val="accent1"/>
                </a:solidFill>
              </a:rPr>
              <a:t>Q2 Events</a:t>
            </a:r>
            <a:br>
              <a:rPr lang="en-US" sz="4000" noProof="1"/>
            </a:br>
            <a:br>
              <a:rPr lang="en-US" sz="4000" noProof="1"/>
            </a:br>
            <a:endParaRPr lang="en-US" sz="2400" noProof="1"/>
          </a:p>
        </p:txBody>
      </p:sp>
    </p:spTree>
    <p:extLst>
      <p:ext uri="{BB962C8B-B14F-4D97-AF65-F5344CB8AC3E}">
        <p14:creationId xmlns:p14="http://schemas.microsoft.com/office/powerpoint/2010/main" val="207475911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793CA1-897E-10CF-9E07-2121E461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F5E1-5488-BBAF-DC03-1DE8132AE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922" y="1151394"/>
            <a:ext cx="6457611" cy="2849105"/>
          </a:xfrm>
        </p:spPr>
        <p:txBody>
          <a:bodyPr lIns="0" tIns="0" rIns="457200" bIns="0" anchor="t"/>
          <a:lstStyle/>
          <a:p>
            <a:r>
              <a:rPr lang="en-US" sz="4000" noProof="1">
                <a:solidFill>
                  <a:schemeClr val="accent1"/>
                </a:solidFill>
              </a:rPr>
              <a:t>Q3 Events</a:t>
            </a:r>
            <a:br>
              <a:rPr lang="en-US" sz="4000" noProof="1"/>
            </a:br>
            <a:br>
              <a:rPr lang="en-US" sz="4000" noProof="1"/>
            </a:br>
            <a:endParaRPr lang="en-US" sz="2400" noProof="1"/>
          </a:p>
        </p:txBody>
      </p:sp>
    </p:spTree>
    <p:extLst>
      <p:ext uri="{BB962C8B-B14F-4D97-AF65-F5344CB8AC3E}">
        <p14:creationId xmlns:p14="http://schemas.microsoft.com/office/powerpoint/2010/main" val="186174597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87D8B3-6503-9E20-23D5-A6DAC58F0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79FC6-6639-2AE8-1E73-F8F7C0CE1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922" y="1151394"/>
            <a:ext cx="6457611" cy="2849105"/>
          </a:xfrm>
        </p:spPr>
        <p:txBody>
          <a:bodyPr lIns="0" tIns="0" rIns="457200" bIns="0" anchor="t"/>
          <a:lstStyle/>
          <a:p>
            <a:r>
              <a:rPr lang="en-US" sz="4000" noProof="1">
                <a:solidFill>
                  <a:schemeClr val="accent1"/>
                </a:solidFill>
              </a:rPr>
              <a:t>Q4 Events</a:t>
            </a:r>
            <a:br>
              <a:rPr lang="en-US" sz="4000" noProof="1"/>
            </a:br>
            <a:br>
              <a:rPr lang="en-US" sz="4000" noProof="1"/>
            </a:br>
            <a:endParaRPr lang="en-US" sz="2400" noProof="1"/>
          </a:p>
        </p:txBody>
      </p:sp>
    </p:spTree>
    <p:extLst>
      <p:ext uri="{BB962C8B-B14F-4D97-AF65-F5344CB8AC3E}">
        <p14:creationId xmlns:p14="http://schemas.microsoft.com/office/powerpoint/2010/main" val="130443688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ppt/theme/theme2.xml><?xml version="1.0" encoding="utf-8"?>
<a:theme xmlns:a="http://schemas.openxmlformats.org/drawingml/2006/main" name="1_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14600</TotalTime>
  <Words>574</Words>
  <Application>Microsoft Macintosh PowerPoint</Application>
  <PresentationFormat>Widescreen</PresentationFormat>
  <Paragraphs>149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Narrow</vt:lpstr>
      <vt:lpstr>IBM Plex Sans</vt:lpstr>
      <vt:lpstr>IBM Plex Sans Light</vt:lpstr>
      <vt:lpstr>Tahoma</vt:lpstr>
      <vt:lpstr>IBM presentation template</vt:lpstr>
      <vt:lpstr>1_IBM presentation template</vt:lpstr>
      <vt:lpstr>Quarterly Event Results Review with Jen  [Industry/FSM/Pub/Fed/Horizon/Consulting/Strategic Partners]</vt:lpstr>
      <vt:lpstr>[Event Name], [Brief ID], [Event Date]</vt:lpstr>
      <vt:lpstr>United Supplier Event, LKTXXIMB, March 11</vt:lpstr>
      <vt:lpstr>SAE WCX 2026, CLXLAQMB, April 14-16</vt:lpstr>
      <vt:lpstr>Q1 Events  </vt:lpstr>
      <vt:lpstr>Q2 Events  </vt:lpstr>
      <vt:lpstr>Q3 Events  </vt:lpstr>
      <vt:lpstr>Q4 Events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Ruby Cimmarusti</dc:creator>
  <cp:lastModifiedBy>Allefe Apolinario</cp:lastModifiedBy>
  <cp:revision>17</cp:revision>
  <dcterms:created xsi:type="dcterms:W3CDTF">2026-07-28T16:06:10Z</dcterms:created>
  <dcterms:modified xsi:type="dcterms:W3CDTF">2026-08-18T18:47:36Z</dcterms:modified>
</cp:coreProperties>
</file>