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D_81F4B5D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8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C5E49A-7778-EEDF-C89F-AF082AEEEB9E}" name="Jen Bergeron" initials="JB" userId="S::Jennifer.Martinson1@ibm.com::9cc11d93-8f6f-4cb3-96dd-5e6f676e99f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EEC4E-E2F4-4CFC-86DC-984BB0F7ECCE}" v="17" dt="2026-08-18T18:14:10.036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17"/>
    <p:restoredTop sz="94726"/>
  </p:normalViewPr>
  <p:slideViewPr>
    <p:cSldViewPr snapToGrid="0">
      <p:cViewPr varScale="1">
        <p:scale>
          <a:sx n="89" d="100"/>
          <a:sy n="89" d="100"/>
        </p:scale>
        <p:origin x="18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by Cimmarusti" userId="xkIhsXMOA4ObusUnEYODMIGRWih+C01hyROLtaL5uvA=" providerId="None" clId="Web-{F98EEC4E-E2F4-4CFC-86DC-984BB0F7ECCE}"/>
    <pc:docChg chg="addSld modSld">
      <pc:chgData name="Ruby Cimmarusti" userId="xkIhsXMOA4ObusUnEYODMIGRWih+C01hyROLtaL5uvA=" providerId="None" clId="Web-{F98EEC4E-E2F4-4CFC-86DC-984BB0F7ECCE}" dt="2026-08-18T18:14:10.036" v="16" actId="20577"/>
      <pc:docMkLst>
        <pc:docMk/>
      </pc:docMkLst>
      <pc:sldChg chg="modSp add replId">
        <pc:chgData name="Ruby Cimmarusti" userId="xkIhsXMOA4ObusUnEYODMIGRWih+C01hyROLtaL5uvA=" providerId="None" clId="Web-{F98EEC4E-E2F4-4CFC-86DC-984BB0F7ECCE}" dt="2026-08-18T18:13:57.599" v="8" actId="20577"/>
        <pc:sldMkLst>
          <pc:docMk/>
          <pc:sldMk cId="1538860891" sldId="287"/>
        </pc:sldMkLst>
        <pc:spChg chg="mod">
          <ac:chgData name="Ruby Cimmarusti" userId="xkIhsXMOA4ObusUnEYODMIGRWih+C01hyROLtaL5uvA=" providerId="None" clId="Web-{F98EEC4E-E2F4-4CFC-86DC-984BB0F7ECCE}" dt="2026-08-18T18:13:57.599" v="8" actId="20577"/>
          <ac:spMkLst>
            <pc:docMk/>
            <pc:sldMk cId="1538860891" sldId="287"/>
            <ac:spMk id="2" creationId="{D1901CD6-FCB8-BEBA-60FB-A8E802C0C203}"/>
          </ac:spMkLst>
        </pc:spChg>
      </pc:sldChg>
      <pc:sldChg chg="modSp add replId">
        <pc:chgData name="Ruby Cimmarusti" userId="xkIhsXMOA4ObusUnEYODMIGRWih+C01hyROLtaL5uvA=" providerId="None" clId="Web-{F98EEC4E-E2F4-4CFC-86DC-984BB0F7ECCE}" dt="2026-08-18T18:14:01.880" v="11" actId="20577"/>
        <pc:sldMkLst>
          <pc:docMk/>
          <pc:sldMk cId="2074759118" sldId="288"/>
        </pc:sldMkLst>
        <pc:spChg chg="mod">
          <ac:chgData name="Ruby Cimmarusti" userId="xkIhsXMOA4ObusUnEYODMIGRWih+C01hyROLtaL5uvA=" providerId="None" clId="Web-{F98EEC4E-E2F4-4CFC-86DC-984BB0F7ECCE}" dt="2026-08-18T18:14:01.880" v="11" actId="20577"/>
          <ac:spMkLst>
            <pc:docMk/>
            <pc:sldMk cId="2074759118" sldId="288"/>
            <ac:spMk id="2" creationId="{CA3CCA56-4412-9A7F-C687-79AD4DF67A4B}"/>
          </ac:spMkLst>
        </pc:spChg>
      </pc:sldChg>
      <pc:sldChg chg="modSp add replId">
        <pc:chgData name="Ruby Cimmarusti" userId="xkIhsXMOA4ObusUnEYODMIGRWih+C01hyROLtaL5uvA=" providerId="None" clId="Web-{F98EEC4E-E2F4-4CFC-86DC-984BB0F7ECCE}" dt="2026-08-18T18:14:06.099" v="14" actId="20577"/>
        <pc:sldMkLst>
          <pc:docMk/>
          <pc:sldMk cId="1861745973" sldId="289"/>
        </pc:sldMkLst>
        <pc:spChg chg="mod">
          <ac:chgData name="Ruby Cimmarusti" userId="xkIhsXMOA4ObusUnEYODMIGRWih+C01hyROLtaL5uvA=" providerId="None" clId="Web-{F98EEC4E-E2F4-4CFC-86DC-984BB0F7ECCE}" dt="2026-08-18T18:14:06.099" v="14" actId="20577"/>
          <ac:spMkLst>
            <pc:docMk/>
            <pc:sldMk cId="1861745973" sldId="289"/>
            <ac:spMk id="2" creationId="{0E20F5E1-5488-BBAF-DC03-1DE8132AEB77}"/>
          </ac:spMkLst>
        </pc:spChg>
      </pc:sldChg>
      <pc:sldChg chg="modSp add replId">
        <pc:chgData name="Ruby Cimmarusti" userId="xkIhsXMOA4ObusUnEYODMIGRWih+C01hyROLtaL5uvA=" providerId="None" clId="Web-{F98EEC4E-E2F4-4CFC-86DC-984BB0F7ECCE}" dt="2026-08-18T18:14:10.036" v="16" actId="20577"/>
        <pc:sldMkLst>
          <pc:docMk/>
          <pc:sldMk cId="1304436884" sldId="290"/>
        </pc:sldMkLst>
        <pc:spChg chg="mod">
          <ac:chgData name="Ruby Cimmarusti" userId="xkIhsXMOA4ObusUnEYODMIGRWih+C01hyROLtaL5uvA=" providerId="None" clId="Web-{F98EEC4E-E2F4-4CFC-86DC-984BB0F7ECCE}" dt="2026-08-18T18:14:10.036" v="16" actId="20577"/>
          <ac:spMkLst>
            <pc:docMk/>
            <pc:sldMk cId="1304436884" sldId="290"/>
            <ac:spMk id="2" creationId="{EA279FC6-6639-2AE8-1E73-F8F7C0CE1EBF}"/>
          </ac:spMkLst>
        </pc:spChg>
      </pc:sldChg>
    </pc:docChg>
  </pc:docChgLst>
</pc:chgInfo>
</file>

<file path=ppt/comments/modernComment_11D_81F4B5D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706834-27C7-4122-8578-25A5272427DA}" authorId="{53C5E49A-7778-EEDF-C89F-AF082AEEEB9E}" status="resolved" created="2026-08-13T13:39:53.96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80298194" sldId="285"/>
      <ac:graphicFrameMk id="6" creationId="{DD56604F-64DC-E648-B048-3B9A50C702EF}"/>
      <ac:tblMk/>
      <ac:tcMk rowId="4102377399" colId="2278243994"/>
      <ac:txMk cp="0" len="16">
        <ac:context len="46" hash="1837459394"/>
      </ac:txMk>
    </ac:txMkLst>
    <p188:pos x="1251222" y="247461"/>
    <p188:txBody>
      <a:bodyPr/>
      <a:lstStyle/>
      <a:p>
        <a:r>
          <a:rPr lang="en-US"/>
          <a:t>Total # of Named Accounts/ Total # of Attendees</a:t>
        </a:r>
      </a:p>
    </p188:txBody>
  </p188:cm>
  <p188:cm id="{5B896611-DFBF-47B8-A9E2-A6EF73B92874}" authorId="{53C5E49A-7778-EEDF-C89F-AF082AEEEB9E}" status="resolved" created="2026-08-13T13:41:12.438" complete="100000">
    <pc:sldMkLst xmlns:pc="http://schemas.microsoft.com/office/powerpoint/2013/main/command">
      <pc:docMk/>
      <pc:sldMk cId="2180298194" sldId="285"/>
    </pc:sldMkLst>
    <p188:txBody>
      <a:bodyPr/>
      <a:lstStyle/>
      <a:p>
        <a:r>
          <a:rPr lang="en-US"/>
          <a:t>Total # of Horizon Accounts / Total # of Attendees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FAEDD-00DB-FD4B-A156-49B629A51983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F7523B-E1AF-F340-AC77-3B836988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28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meetings – consider pulling a report to show what percentage of SQOR meetings are driving </a:t>
            </a:r>
          </a:p>
          <a:p>
            <a:r>
              <a:rPr lang="en-US" dirty="0"/>
              <a:t>For proprietary, include pipeline in room vs how much has progressed over time (would need to pull from ISC with opportunity number dashboard)</a:t>
            </a:r>
          </a:p>
          <a:p>
            <a:r>
              <a:rPr lang="en-US" dirty="0"/>
              <a:t>Paste event results slide into POR once updated so Elena has visibility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7523B-E1AF-F340-AC77-3B836988B6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77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63" y="756001"/>
            <a:ext cx="5049180" cy="2672999"/>
          </a:xfrm>
        </p:spPr>
        <p:txBody>
          <a:bodyPr/>
          <a:lstStyle>
            <a:lvl1pPr>
              <a:lnSpc>
                <a:spcPct val="100000"/>
              </a:lnSpc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/>
              <a:t>[Event Name]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006" y="6288881"/>
            <a:ext cx="769063" cy="2862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0847" cy="629012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77F19C-C511-44F4-B2FD-5F8AD1B516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39" y="5049986"/>
            <a:ext cx="5049180" cy="850900"/>
          </a:xfrm>
        </p:spPr>
        <p:txBody>
          <a:bodyPr/>
          <a:lstStyle/>
          <a:p>
            <a:pPr lvl="0"/>
            <a:r>
              <a:rPr lang="en-US"/>
              <a:t>[Event Date], [Event Location]</a:t>
            </a:r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4F2771-DA7B-DE56-E56E-032150E797C9}"/>
              </a:ext>
            </a:extLst>
          </p:cNvPr>
          <p:cNvSpPr txBox="1"/>
          <p:nvPr userDrawn="1"/>
        </p:nvSpPr>
        <p:spPr>
          <a:xfrm>
            <a:off x="287339" y="282919"/>
            <a:ext cx="4231399" cy="31566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rIns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PLAN OF RECORD</a:t>
            </a:r>
          </a:p>
        </p:txBody>
      </p:sp>
    </p:spTree>
    <p:extLst>
      <p:ext uri="{BB962C8B-B14F-4D97-AF65-F5344CB8AC3E}">
        <p14:creationId xmlns:p14="http://schemas.microsoft.com/office/powerpoint/2010/main" val="33129420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5"/>
            <a:ext cx="2470717" cy="2105025"/>
          </a:xfrm>
        </p:spPr>
        <p:txBody>
          <a:bodyPr/>
          <a:lstStyle>
            <a:lvl1pPr>
              <a:lnSpc>
                <a:spcPct val="100000"/>
              </a:lnSpc>
              <a:defRPr sz="3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508" y="287337"/>
            <a:ext cx="2476177" cy="5808659"/>
          </a:xfrm>
        </p:spPr>
        <p:txBody>
          <a:bodyPr/>
          <a:lstStyle>
            <a:lvl1pPr defTabSz="580629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629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629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629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62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7337"/>
            <a:ext cx="2470623" cy="5810251"/>
          </a:xfrm>
        </p:spPr>
        <p:txBody>
          <a:bodyPr/>
          <a:lstStyle>
            <a:lvl1pPr defTabSz="580629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629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629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629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62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1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7910" y="6475770"/>
            <a:ext cx="13679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3625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7527" cy="1331912"/>
          </a:xfrm>
        </p:spPr>
        <p:txBody>
          <a:bodyPr rIns="457200"/>
          <a:lstStyle>
            <a:lvl1pPr>
              <a:lnSpc>
                <a:spcPct val="100000"/>
              </a:lnSpc>
              <a:defRPr sz="3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1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7910" y="6475770"/>
            <a:ext cx="13679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0821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7"/>
            <a:ext cx="3711980" cy="953295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3999"/>
            <a:ext cx="5049180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9" y="1524000"/>
            <a:ext cx="5047593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1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7910" y="6475770"/>
            <a:ext cx="13679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120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1520825"/>
            <a:ext cx="2477765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8013" indent="-128013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6026" indent="-128013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4038" indent="-128013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5750"/>
            <a:ext cx="8567416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1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9714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s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A93EEE1-93B2-869E-2EBF-1BA053C3FE62}"/>
              </a:ext>
            </a:extLst>
          </p:cNvPr>
          <p:cNvSpPr/>
          <p:nvPr userDrawn="1"/>
        </p:nvSpPr>
        <p:spPr bwMode="auto">
          <a:xfrm flipH="1">
            <a:off x="6237755" y="0"/>
            <a:ext cx="5958313" cy="6858000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800" b="1" noProof="1">
              <a:solidFill>
                <a:sysClr val="windowText" lastClr="000000"/>
              </a:solidFill>
            </a:endParaRP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082612" y="1614820"/>
            <a:ext cx="1229708" cy="1238251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 Headshot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082612" y="3140408"/>
            <a:ext cx="1229708" cy="1238251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 Headshot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082612" y="4662820"/>
            <a:ext cx="1229708" cy="1238251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 Headshot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1340" y="1614820"/>
            <a:ext cx="2853953" cy="1238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1pPr>
            <a:lvl2pPr marL="128013" indent="-128013"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 marL="256026" indent="-128013"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3pPr>
            <a:lvl4pPr marL="384038" indent="-128013"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1340" y="3140408"/>
            <a:ext cx="2853953" cy="1238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1pPr>
            <a:lvl2pPr marL="128013" indent="-128013"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 marL="256026" indent="-128013"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3pPr>
            <a:lvl4pPr marL="384038" indent="-128013"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1340" y="4662820"/>
            <a:ext cx="2853953" cy="1238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1pPr>
            <a:lvl2pPr marL="128013" indent="-128013"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 marL="256026" indent="-128013"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3pPr>
            <a:lvl4pPr marL="384038" indent="-128013">
              <a:lnSpc>
                <a:spcPct val="11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1F0832-FD30-62A1-8616-C0B122AF7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63" y="261036"/>
            <a:ext cx="5666283" cy="951076"/>
          </a:xfrm>
        </p:spPr>
        <p:txBody>
          <a:bodyPr/>
          <a:lstStyle>
            <a:lvl1pPr>
              <a:lnSpc>
                <a:spcPct val="110000"/>
              </a:lnSpc>
              <a:defRPr sz="18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Session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274755E-C9DB-C960-00C2-5EA59B760A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7311" y="1614820"/>
            <a:ext cx="5666283" cy="307975"/>
          </a:xfrm>
        </p:spPr>
        <p:txBody>
          <a:bodyPr/>
          <a:lstStyle>
            <a:lvl1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Date/Hour/Location</a:t>
            </a:r>
            <a:endParaRPr lang="en-BR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629583B-916F-A388-4803-4FC30555C7B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7338" y="2150237"/>
            <a:ext cx="5666893" cy="3750833"/>
          </a:xfrm>
        </p:spPr>
        <p:txBody>
          <a:bodyPr/>
          <a:lstStyle>
            <a:lvl1pPr>
              <a:defRPr sz="1400">
                <a:latin typeface="+mn-lt"/>
              </a:defRPr>
            </a:lvl1pPr>
          </a:lstStyle>
          <a:p>
            <a:pPr lvl="0"/>
            <a:r>
              <a:rPr lang="en-US"/>
              <a:t>Add abstract here</a:t>
            </a:r>
            <a:endParaRPr lang="en-BR"/>
          </a:p>
        </p:txBody>
      </p:sp>
      <p:pic>
        <p:nvPicPr>
          <p:cNvPr id="23" name="Picture 22" descr="Bee, Blue 60 pictogram">
            <a:extLst>
              <a:ext uri="{FF2B5EF4-FFF2-40B4-BE49-F238E27FC236}">
                <a16:creationId xmlns:a16="http://schemas.microsoft.com/office/drawing/2014/main" id="{0DF64090-E778-1D4A-D9DD-AFE05CCF57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799" y="605696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0284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1" cy="1234376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87963" y="6408001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7910" y="6475770"/>
            <a:ext cx="13679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140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B52633-E778-8150-08A2-AB6BC4C71B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1" y="0"/>
            <a:ext cx="12192000" cy="79325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BR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61037"/>
            <a:ext cx="3638835" cy="27118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069305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a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D9031C-4980-31E5-9CDF-17C17AA47124}"/>
              </a:ext>
            </a:extLst>
          </p:cNvPr>
          <p:cNvCxnSpPr/>
          <p:nvPr userDrawn="1"/>
        </p:nvCxnSpPr>
        <p:spPr bwMode="auto">
          <a:xfrm>
            <a:off x="3048000" y="330"/>
            <a:ext cx="0" cy="68573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9FE82F-1A42-B323-2CB4-84C4CD2C0010}"/>
              </a:ext>
            </a:extLst>
          </p:cNvPr>
          <p:cNvCxnSpPr/>
          <p:nvPr userDrawn="1"/>
        </p:nvCxnSpPr>
        <p:spPr bwMode="auto">
          <a:xfrm>
            <a:off x="6096000" y="330"/>
            <a:ext cx="0" cy="68573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BD3522-8FC4-2C8B-EFE6-98BC774D059A}"/>
              </a:ext>
            </a:extLst>
          </p:cNvPr>
          <p:cNvCxnSpPr/>
          <p:nvPr userDrawn="1"/>
        </p:nvCxnSpPr>
        <p:spPr bwMode="auto">
          <a:xfrm>
            <a:off x="9144000" y="330"/>
            <a:ext cx="0" cy="68573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B033B8-D425-A80F-EF94-A95EF5B3E506}"/>
              </a:ext>
            </a:extLst>
          </p:cNvPr>
          <p:cNvCxnSpPr/>
          <p:nvPr userDrawn="1"/>
        </p:nvCxnSpPr>
        <p:spPr bwMode="auto">
          <a:xfrm>
            <a:off x="2569" y="3428996"/>
            <a:ext cx="12193268" cy="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83138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ot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7910" y="6475770"/>
            <a:ext cx="13679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D0467-1706-4712-8B22-6C59639CF2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4637" y="1081294"/>
            <a:ext cx="3901364" cy="2160000"/>
          </a:xfrm>
          <a:ln>
            <a:noFill/>
          </a:ln>
        </p:spPr>
        <p:txBody>
          <a:bodyPr/>
          <a:lstStyle>
            <a:lvl1pPr algn="ctr">
              <a:defRPr sz="1000" b="1"/>
            </a:lvl1pPr>
          </a:lstStyle>
          <a:p>
            <a:r>
              <a:rPr lang="en-BR"/>
              <a:t>Insert Booth Mockup/Photos here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F7B36E81-2B95-5127-B302-D7F6A140B96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03300" y="1081294"/>
            <a:ext cx="3901363" cy="2160000"/>
          </a:xfrm>
          <a:ln>
            <a:noFill/>
          </a:ln>
        </p:spPr>
        <p:txBody>
          <a:bodyPr/>
          <a:lstStyle>
            <a:lvl1pPr marL="0" marR="0" indent="0" algn="ctr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/>
            </a:lvl1pPr>
          </a:lstStyle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/>
              <a:t>Insert Booth Mockup/Photos here</a:t>
            </a:r>
          </a:p>
          <a:p>
            <a:endParaRPr lang="en-BR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F56D3B0-F36B-EDCB-1AA4-98351AC49C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14637" y="3502206"/>
            <a:ext cx="3901364" cy="2160000"/>
          </a:xfrm>
          <a:ln>
            <a:noFill/>
          </a:ln>
        </p:spPr>
        <p:txBody>
          <a:bodyPr/>
          <a:lstStyle>
            <a:lvl1pPr marL="0" marR="0" indent="0" algn="ctr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/>
            </a:lvl1pPr>
          </a:lstStyle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/>
              <a:t>Insert Booth Mockup/Photos here</a:t>
            </a:r>
          </a:p>
          <a:p>
            <a:endParaRPr lang="en-BR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5DEE4B7-28C8-1990-D207-D668DB46350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03300" y="3502206"/>
            <a:ext cx="3901363" cy="2160000"/>
          </a:xfrm>
          <a:ln>
            <a:noFill/>
          </a:ln>
        </p:spPr>
        <p:txBody>
          <a:bodyPr/>
          <a:lstStyle>
            <a:lvl1pPr marL="0" marR="0" indent="0" algn="ctr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/>
            </a:lvl1pPr>
          </a:lstStyle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/>
              <a:t>Insert Booth Mockup/Photos here</a:t>
            </a:r>
          </a:p>
          <a:p>
            <a:endParaRPr lang="en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F951FE-0B1E-6126-4C33-FDB79C079C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1" y="0"/>
            <a:ext cx="12192000" cy="79325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BR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2C9036C-E5DD-67D3-944A-8B67E7328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61037"/>
            <a:ext cx="3638835" cy="27118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31453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5" y="3084231"/>
            <a:ext cx="1727991" cy="68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4817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7910" y="6475858"/>
            <a:ext cx="13679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23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43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63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768121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/>
  <p:hf hdr="0" dt="0"/>
  <p:txStyles>
    <p:titleStyle>
      <a:lvl1pPr marL="0" marR="0" indent="0" algn="l" defTabSz="121917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917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917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917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917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79" algn="l" defTabSz="121917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560" algn="l" defTabSz="121917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840" algn="l" defTabSz="121917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5121" algn="l" defTabSz="121917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917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88" marR="0" indent="-164588" algn="l" defTabSz="121917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76" marR="0" indent="-164588" algn="l" defTabSz="121917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764" marR="0" indent="-164588" algn="l" defTabSz="121917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486" marR="0" indent="-228594" algn="l" defTabSz="1219170" rtl="0" eaLnBrk="1" latinLnBrk="0" hangingPunct="1">
        <a:lnSpc>
          <a:spcPct val="110000"/>
        </a:lnSpc>
        <a:spcBef>
          <a:spcPts val="1451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508" marR="0" indent="-194499" algn="l" defTabSz="1219170" rtl="0" eaLnBrk="1" latinLnBrk="0" hangingPunct="1">
        <a:lnSpc>
          <a:spcPct val="100000"/>
        </a:lnSpc>
        <a:spcBef>
          <a:spcPts val="1451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788" marR="0" indent="-194499" algn="l" defTabSz="1219170" rtl="0" eaLnBrk="1" latinLnBrk="0" hangingPunct="1">
        <a:lnSpc>
          <a:spcPct val="100000"/>
        </a:lnSpc>
        <a:spcBef>
          <a:spcPts val="1451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4068" marR="0" indent="-194499" algn="l" defTabSz="1219170" rtl="0" eaLnBrk="1" latinLnBrk="0" hangingPunct="1">
        <a:lnSpc>
          <a:spcPct val="100000"/>
        </a:lnSpc>
        <a:spcBef>
          <a:spcPts val="1451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347" marR="0" indent="-194499" algn="l" defTabSz="1219170" rtl="0" eaLnBrk="1" latinLnBrk="0" hangingPunct="1">
        <a:lnSpc>
          <a:spcPct val="100000"/>
        </a:lnSpc>
        <a:spcBef>
          <a:spcPts val="1451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6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92" algn="r" defTabSz="9146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82" algn="r" defTabSz="9146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474" algn="r" defTabSz="9146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966" algn="r" defTabSz="9146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457" algn="r" defTabSz="9146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949" algn="r" defTabSz="9146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441" algn="r" defTabSz="9146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931" algn="r" defTabSz="9146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181">
          <p15:clr>
            <a:srgbClr val="EE5396"/>
          </p15:clr>
        </p15:guide>
        <p15:guide id="4" pos="1920">
          <p15:clr>
            <a:srgbClr val="0F62FE"/>
          </p15:clr>
        </p15:guide>
        <p15:guide id="5" pos="957">
          <p15:clr>
            <a:srgbClr val="EE5396"/>
          </p15:clr>
        </p15:guide>
        <p15:guide id="6" pos="2877">
          <p15:clr>
            <a:srgbClr val="EE5396"/>
          </p15:clr>
        </p15:guide>
        <p15:guide id="7" pos="3659">
          <p15:clr>
            <a:srgbClr val="EE5396"/>
          </p15:clr>
        </p15:guide>
        <p15:guide id="8" pos="4020">
          <p15:clr>
            <a:srgbClr val="EE5396"/>
          </p15:clr>
        </p15:guide>
        <p15:guide id="9" pos="2100">
          <p15:clr>
            <a:srgbClr val="EE5396"/>
          </p15:clr>
        </p15:guide>
        <p15:guide id="10" pos="1740">
          <p15:clr>
            <a:srgbClr val="EE5396"/>
          </p15:clr>
        </p15:guide>
        <p15:guide id="11" pos="4796">
          <p15:clr>
            <a:srgbClr val="EE5396"/>
          </p15:clr>
        </p15:guide>
        <p15:guide id="13" pos="5579">
          <p15:clr>
            <a:srgbClr val="EE5396"/>
          </p15:clr>
        </p15:guide>
        <p15:guide id="14" pos="5939">
          <p15:clr>
            <a:srgbClr val="EE5396"/>
          </p15:clr>
        </p15:guide>
        <p15:guide id="15" pos="6719">
          <p15:clr>
            <a:srgbClr val="EE5396"/>
          </p15:clr>
        </p15:guide>
        <p15:guide id="16" pos="7496">
          <p15:clr>
            <a:srgbClr val="EE5396"/>
          </p15:clr>
        </p15:guide>
        <p15:guide id="19" orient="horz" pos="1920">
          <p15:clr>
            <a:srgbClr val="EE5396"/>
          </p15:clr>
        </p15:guide>
        <p15:guide id="20" orient="horz" pos="479">
          <p15:clr>
            <a:srgbClr val="EE5396"/>
          </p15:clr>
        </p15:guide>
        <p15:guide id="25" orient="horz" pos="3841">
          <p15:clr>
            <a:srgbClr val="EE5396"/>
          </p15:clr>
        </p15:guide>
        <p15:guide id="26" pos="3840">
          <p15:clr>
            <a:srgbClr val="0F62FE"/>
          </p15:clr>
        </p15:guide>
        <p15:guide id="27" pos="5759">
          <p15:clr>
            <a:srgbClr val="0F62FE"/>
          </p15:clr>
        </p15:guide>
        <p15:guide id="30" orient="horz" pos="959">
          <p15:clr>
            <a:srgbClr val="EE5396"/>
          </p15:clr>
        </p15:guide>
        <p15:guide id="32" orient="horz" pos="3360">
          <p15:clr>
            <a:srgbClr val="EE5396"/>
          </p15:clr>
        </p15:guide>
        <p15:guide id="33" orient="horz" pos="1440">
          <p15:clr>
            <a:srgbClr val="EE5396"/>
          </p15:clr>
        </p15:guide>
        <p15:guide id="34" orient="horz" pos="2400">
          <p15:clr>
            <a:srgbClr val="EE5396"/>
          </p15:clr>
        </p15:guide>
        <p15:guide id="35" orient="horz" pos="2879">
          <p15:clr>
            <a:srgbClr val="EE5396"/>
          </p15:clr>
        </p15:guide>
        <p15:guide id="36" orient="horz" pos="4143">
          <p15:clr>
            <a:srgbClr val="9FCC3B"/>
          </p15:clr>
        </p15:guide>
        <p15:guide id="37" orient="horz" pos="180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D_81F4B5D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ibm.ent.box.com/folder/367761251020?s=h6y1cfrjixr0bqks6vz2o64k3k0imy3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5CF6-DA47-5931-652F-E0789A7A1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17B763-9887-BBEA-2593-95059A8E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61037"/>
            <a:ext cx="4528966" cy="394270"/>
          </a:xfrm>
        </p:spPr>
        <p:txBody>
          <a:bodyPr/>
          <a:lstStyle/>
          <a:p>
            <a:r>
              <a:rPr lang="en-US" sz="2000" noProof="1"/>
              <a:t>[Event Name], [Brief ID], [Event Date]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FA72D2-73BF-0163-23E6-B92DE7F346FD}"/>
              </a:ext>
            </a:extLst>
          </p:cNvPr>
          <p:cNvSpPr/>
          <p:nvPr/>
        </p:nvSpPr>
        <p:spPr bwMode="auto">
          <a:xfrm>
            <a:off x="4041735" y="1199213"/>
            <a:ext cx="8013100" cy="3343795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4B1D97-8A45-A1A2-2DC2-ACAC5EDBF269}"/>
              </a:ext>
            </a:extLst>
          </p:cNvPr>
          <p:cNvSpPr/>
          <p:nvPr/>
        </p:nvSpPr>
        <p:spPr bwMode="auto">
          <a:xfrm>
            <a:off x="3926798" y="5411449"/>
            <a:ext cx="8128036" cy="65347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A2510-7AD0-8F33-1C51-6834ADC07D05}"/>
              </a:ext>
            </a:extLst>
          </p:cNvPr>
          <p:cNvSpPr txBox="1"/>
          <p:nvPr/>
        </p:nvSpPr>
        <p:spPr>
          <a:xfrm>
            <a:off x="6219984" y="2648882"/>
            <a:ext cx="3957403" cy="329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[Paste screenshot of EPM dashboard]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5B0FEE-9D3A-A276-0021-BC8D9D751314}"/>
              </a:ext>
            </a:extLst>
          </p:cNvPr>
          <p:cNvSpPr txBox="1"/>
          <p:nvPr/>
        </p:nvSpPr>
        <p:spPr>
          <a:xfrm>
            <a:off x="6565691" y="5599847"/>
            <a:ext cx="3018019" cy="276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[Insert table of 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4"/>
              </a:rPr>
              <a:t>KPI projects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]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293BBB0B-5C33-F1E1-3E23-24A088F589F6}"/>
              </a:ext>
            </a:extLst>
          </p:cNvPr>
          <p:cNvSpPr txBox="1">
            <a:spLocks/>
          </p:cNvSpPr>
          <p:nvPr/>
        </p:nvSpPr>
        <p:spPr>
          <a:xfrm>
            <a:off x="7123336" y="4731406"/>
            <a:ext cx="1912177" cy="230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121917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181279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36256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54384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725121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600" i="1" kern="0" noProof="1"/>
              <a:t>[</a:t>
            </a:r>
            <a:r>
              <a:rPr lang="en-US" sz="1600" b="1" i="1" kern="0" noProof="1">
                <a:highlight>
                  <a:srgbClr val="FFFF00"/>
                </a:highlight>
              </a:rPr>
              <a:t>Date of EPM pull</a:t>
            </a:r>
            <a:r>
              <a:rPr lang="en-US" sz="1600" i="1" kern="0" noProof="1"/>
              <a:t>]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C1AC210-71C9-0BE7-185C-F2DA77490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718326"/>
              </p:ext>
            </p:extLst>
          </p:nvPr>
        </p:nvGraphicFramePr>
        <p:xfrm>
          <a:off x="287961" y="4639417"/>
          <a:ext cx="3419565" cy="1876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565">
                  <a:extLst>
                    <a:ext uri="{9D8B030D-6E8A-4147-A177-3AD203B41FA5}">
                      <a16:colId xmlns:a16="http://schemas.microsoft.com/office/drawing/2014/main" val="2278243994"/>
                    </a:ext>
                  </a:extLst>
                </a:gridCol>
              </a:tblGrid>
              <a:tr h="520643">
                <a:tc>
                  <a:txBody>
                    <a:bodyPr/>
                    <a:lstStyle/>
                    <a:p>
                      <a:pPr marL="0" marR="0" lvl="0" indent="0" algn="r" defTabSz="914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Event Highlights / Future Recommendations</a:t>
                      </a:r>
                    </a:p>
                    <a:p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377399"/>
                  </a:ext>
                </a:extLst>
              </a:tr>
              <a:tr h="887021"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i="1" dirty="0">
                          <a:solidFill>
                            <a:srgbClr val="161616"/>
                          </a:solidFill>
                        </a:rPr>
                        <a:t># of meetings onsite / how did they perform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i="1" dirty="0">
                          <a:solidFill>
                            <a:srgbClr val="161616"/>
                          </a:solidFill>
                        </a:rPr>
                        <a:t>Any large deals made/progressed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i="1" dirty="0">
                          <a:solidFill>
                            <a:srgbClr val="161616"/>
                          </a:solidFill>
                        </a:rPr>
                        <a:t>Cool activation or creative idea implemented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i="1" dirty="0">
                          <a:solidFill>
                            <a:srgbClr val="161616"/>
                          </a:solidFill>
                        </a:rPr>
                        <a:t>If we didn’t meet projections, why not?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US" dirty="0">
                        <a:solidFill>
                          <a:srgbClr val="161616"/>
                        </a:solidFill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7788"/>
                  </a:ext>
                </a:extLst>
              </a:tr>
              <a:tr h="46922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DA1E28"/>
                          </a:solidFill>
                        </a:rPr>
                        <a:t>[Keep, Change, or Remove From Plan]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414998"/>
                  </a:ext>
                </a:extLst>
              </a:tr>
            </a:tbl>
          </a:graphicData>
        </a:graphic>
      </p:graphicFrame>
      <p:sp>
        <p:nvSpPr>
          <p:cNvPr id="17" name="Title 2">
            <a:extLst>
              <a:ext uri="{FF2B5EF4-FFF2-40B4-BE49-F238E27FC236}">
                <a16:creationId xmlns:a16="http://schemas.microsoft.com/office/drawing/2014/main" id="{8B45EA2D-75BF-4FF5-ED8F-30C04ED45125}"/>
              </a:ext>
            </a:extLst>
          </p:cNvPr>
          <p:cNvSpPr txBox="1">
            <a:spLocks/>
          </p:cNvSpPr>
          <p:nvPr/>
        </p:nvSpPr>
        <p:spPr>
          <a:xfrm>
            <a:off x="8553165" y="261037"/>
            <a:ext cx="3638835" cy="271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121917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181279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36256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543840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725121" algn="l" defTabSz="121917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algn="ctr"/>
            <a:r>
              <a:rPr lang="en-US" sz="2000" kern="0" noProof="1"/>
              <a:t>[Link to POR]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56604F-64DC-E648-B048-3B9A50C70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99828"/>
              </p:ext>
            </p:extLst>
          </p:nvPr>
        </p:nvGraphicFramePr>
        <p:xfrm>
          <a:off x="258182" y="3382929"/>
          <a:ext cx="1434366" cy="734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366">
                  <a:extLst>
                    <a:ext uri="{9D8B030D-6E8A-4147-A177-3AD203B41FA5}">
                      <a16:colId xmlns:a16="http://schemas.microsoft.com/office/drawing/2014/main" val="2278243994"/>
                    </a:ext>
                  </a:extLst>
                </a:gridCol>
              </a:tblGrid>
              <a:tr h="364076">
                <a:tc>
                  <a:txBody>
                    <a:bodyPr/>
                    <a:lstStyle/>
                    <a:p>
                      <a:pPr marL="0" marR="0" lvl="0" indent="0" algn="ctr" defTabSz="914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% Named Accounts</a:t>
                      </a:r>
                    </a:p>
                    <a:p>
                      <a:pPr algn="ctr"/>
                      <a:r>
                        <a:rPr lang="en-US" sz="700" b="0" dirty="0">
                          <a:solidFill>
                            <a:schemeClr val="bg1"/>
                          </a:solidFill>
                        </a:rPr>
                        <a:t>(# of Named/Total Attendees)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37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61616"/>
                          </a:solidFill>
                        </a:rPr>
                        <a:t>X%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778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AE5F688-7F5B-BDF2-51B5-DE896CE27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094480"/>
              </p:ext>
            </p:extLst>
          </p:nvPr>
        </p:nvGraphicFramePr>
        <p:xfrm>
          <a:off x="2243381" y="3370227"/>
          <a:ext cx="1434366" cy="72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366">
                  <a:extLst>
                    <a:ext uri="{9D8B030D-6E8A-4147-A177-3AD203B41FA5}">
                      <a16:colId xmlns:a16="http://schemas.microsoft.com/office/drawing/2014/main" val="2278243994"/>
                    </a:ext>
                  </a:extLst>
                </a:gridCol>
              </a:tblGrid>
              <a:tr h="220609">
                <a:tc>
                  <a:txBody>
                    <a:bodyPr/>
                    <a:lstStyle/>
                    <a:p>
                      <a:pPr marL="0" marR="0" lvl="0" indent="0" algn="ctr" defTabSz="914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% Horizon Accounts</a:t>
                      </a:r>
                    </a:p>
                    <a:p>
                      <a:pPr algn="ctr"/>
                      <a:r>
                        <a:rPr lang="en-US" sz="700" b="0" dirty="0">
                          <a:solidFill>
                            <a:schemeClr val="bg1"/>
                          </a:solidFill>
                        </a:rPr>
                        <a:t>(# of Horizon/Total Attendees)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37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61616"/>
                          </a:solidFill>
                        </a:rPr>
                        <a:t>X%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778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B38A6EF-6463-F544-0369-192E05290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898648"/>
              </p:ext>
            </p:extLst>
          </p:nvPr>
        </p:nvGraphicFramePr>
        <p:xfrm>
          <a:off x="120387" y="1199213"/>
          <a:ext cx="3584055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415">
                  <a:extLst>
                    <a:ext uri="{9D8B030D-6E8A-4147-A177-3AD203B41FA5}">
                      <a16:colId xmlns:a16="http://schemas.microsoft.com/office/drawing/2014/main" val="1191294870"/>
                    </a:ext>
                  </a:extLst>
                </a:gridCol>
                <a:gridCol w="1278467">
                  <a:extLst>
                    <a:ext uri="{9D8B030D-6E8A-4147-A177-3AD203B41FA5}">
                      <a16:colId xmlns:a16="http://schemas.microsoft.com/office/drawing/2014/main" val="2278243994"/>
                    </a:ext>
                  </a:extLst>
                </a:gridCol>
                <a:gridCol w="1192173">
                  <a:extLst>
                    <a:ext uri="{9D8B030D-6E8A-4147-A177-3AD203B41FA5}">
                      <a16:colId xmlns:a16="http://schemas.microsoft.com/office/drawing/2014/main" val="3342156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Expected Individuals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Actual Individuals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37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778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2BF9327-96CC-1403-0CC9-DF6238FD8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717085"/>
              </p:ext>
            </p:extLst>
          </p:nvPr>
        </p:nvGraphicFramePr>
        <p:xfrm>
          <a:off x="150163" y="2176192"/>
          <a:ext cx="3554279" cy="94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572">
                  <a:extLst>
                    <a:ext uri="{9D8B030D-6E8A-4147-A177-3AD203B41FA5}">
                      <a16:colId xmlns:a16="http://schemas.microsoft.com/office/drawing/2014/main" val="1191294870"/>
                    </a:ext>
                  </a:extLst>
                </a:gridCol>
                <a:gridCol w="1261534">
                  <a:extLst>
                    <a:ext uri="{9D8B030D-6E8A-4147-A177-3AD203B41FA5}">
                      <a16:colId xmlns:a16="http://schemas.microsoft.com/office/drawing/2014/main" val="2278243994"/>
                    </a:ext>
                  </a:extLst>
                </a:gridCol>
                <a:gridCol w="1192173">
                  <a:extLst>
                    <a:ext uri="{9D8B030D-6E8A-4147-A177-3AD203B41FA5}">
                      <a16:colId xmlns:a16="http://schemas.microsoft.com/office/drawing/2014/main" val="2231280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Expected SQOR by end of QX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Actual SQOR as of </a:t>
                      </a:r>
                      <a:endParaRPr lang="en-US" sz="800" dirty="0">
                        <a:solidFill>
                          <a:srgbClr val="DA1E2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Delta </a:t>
                      </a:r>
                    </a:p>
                    <a:p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(+/-)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37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rgbClr val="161616"/>
                        </a:solidFill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rgbClr val="161616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rgbClr val="161616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7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298194"/>
      </p:ext>
    </p:extLst>
  </p:cSld>
  <p:clrMapOvr>
    <a:masterClrMapping/>
  </p:clrMapOvr>
  <p:transition spd="med"/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1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14615</TotalTime>
  <Words>178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IBM Plex Sans</vt:lpstr>
      <vt:lpstr>IBM Plex Sans Light</vt:lpstr>
      <vt:lpstr>1_IBM presentation template</vt:lpstr>
      <vt:lpstr>[Event Name], [Brief ID], [Event Date]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Ruby Cimmarusti</dc:creator>
  <cp:lastModifiedBy>Allefe Apolinario</cp:lastModifiedBy>
  <cp:revision>18</cp:revision>
  <dcterms:created xsi:type="dcterms:W3CDTF">2026-07-28T16:06:10Z</dcterms:created>
  <dcterms:modified xsi:type="dcterms:W3CDTF">2026-09-11T11:37:07Z</dcterms:modified>
</cp:coreProperties>
</file>